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B0E0A-678F-16F4-36B7-0C75B3A674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CC660B-C2BE-4718-26C1-4C6BBD3AC3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9482AA-AF5B-3792-3FC0-BD76D7C54FC7}"/>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5" name="Footer Placeholder 4">
            <a:extLst>
              <a:ext uri="{FF2B5EF4-FFF2-40B4-BE49-F238E27FC236}">
                <a16:creationId xmlns:a16="http://schemas.microsoft.com/office/drawing/2014/main" id="{A0E8C575-30E7-2FE6-E848-CD57DB686D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6A4852-EC46-BF70-D305-73B0A1B38A1A}"/>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1527445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934C2-47B6-3AD2-EFA6-3EF0103547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39E7C0-7202-B3E4-258D-08C9F76F70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4DBFE0-953A-9869-97D3-89200EF485B2}"/>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5" name="Footer Placeholder 4">
            <a:extLst>
              <a:ext uri="{FF2B5EF4-FFF2-40B4-BE49-F238E27FC236}">
                <a16:creationId xmlns:a16="http://schemas.microsoft.com/office/drawing/2014/main" id="{417886FF-6530-52AD-D7CC-B593058D61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C6BF60-3575-CDAE-E60E-BB7C599534D7}"/>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1277915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AB2B4-8187-8984-FC74-BF4A58479F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655611-08D5-80EF-9A23-0074913327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4A10D8-A3B5-422F-85F7-AFBFC91A5D11}"/>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5" name="Footer Placeholder 4">
            <a:extLst>
              <a:ext uri="{FF2B5EF4-FFF2-40B4-BE49-F238E27FC236}">
                <a16:creationId xmlns:a16="http://schemas.microsoft.com/office/drawing/2014/main" id="{8EF489D0-A0FE-EC2E-7040-C333D44D2A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23C98A-60CC-BAAF-73AE-8ED7EE61416B}"/>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221296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FF408-2F6B-EBA3-03C2-32E2D31B8F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6E98B0-0F95-A5B4-3621-963DE27809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1DAAD6-E5C7-7C52-3F77-9CE2744DD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3BDE53-FA53-8523-D55B-5545EBCC683F}"/>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6" name="Footer Placeholder 5">
            <a:extLst>
              <a:ext uri="{FF2B5EF4-FFF2-40B4-BE49-F238E27FC236}">
                <a16:creationId xmlns:a16="http://schemas.microsoft.com/office/drawing/2014/main" id="{82CF1116-FE8B-5534-A10E-3323544EE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7FADCC-342E-3347-2CFA-5B543CFBCC7D}"/>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2837260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0AA51-775C-27EE-7770-63C8D6B733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827DA0-4440-D1C3-31AF-88111EA1B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4A193C-A2C1-4CE1-75C0-11F5399976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458B85-7E8F-9D1C-45E5-37783FC2A1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7E0637-F1ED-E5EA-6DB3-B979E3084B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AFC7F5-564C-880F-13B8-A884A0ECA901}"/>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8" name="Footer Placeholder 7">
            <a:extLst>
              <a:ext uri="{FF2B5EF4-FFF2-40B4-BE49-F238E27FC236}">
                <a16:creationId xmlns:a16="http://schemas.microsoft.com/office/drawing/2014/main" id="{BB5A39FD-EBED-7C86-0E40-87456C8250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A9DC82-672D-D3E5-B000-08E06C68E387}"/>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1737806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2E004-30A6-F0C2-60B0-1A1C4679338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D4FB4A-DC3F-D44B-E81B-F630E3A14383}"/>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4" name="Footer Placeholder 3">
            <a:extLst>
              <a:ext uri="{FF2B5EF4-FFF2-40B4-BE49-F238E27FC236}">
                <a16:creationId xmlns:a16="http://schemas.microsoft.com/office/drawing/2014/main" id="{23FB55C5-6453-23B4-BE67-984A68A2CD3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AAB6BF5-F0CF-0C28-D146-DE6DB99C995A}"/>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262025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04B849-6F4A-1236-6B71-ACC5840D5B33}"/>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3" name="Footer Placeholder 2">
            <a:extLst>
              <a:ext uri="{FF2B5EF4-FFF2-40B4-BE49-F238E27FC236}">
                <a16:creationId xmlns:a16="http://schemas.microsoft.com/office/drawing/2014/main" id="{A3C9721E-8FB3-7219-796A-041D5287B0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B7A46F-FEA7-C8C9-447B-312E875F9F90}"/>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1637833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32898-7DC9-8356-B2A5-944B161A07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812FB2-6404-12FE-D399-E8F500DEE4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EBCFDF-0C4E-05F7-0EF0-B3096B69C5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9CA443-29B8-BFEF-D87A-7CBAE47EC4A6}"/>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6" name="Footer Placeholder 5">
            <a:extLst>
              <a:ext uri="{FF2B5EF4-FFF2-40B4-BE49-F238E27FC236}">
                <a16:creationId xmlns:a16="http://schemas.microsoft.com/office/drawing/2014/main" id="{51C586D2-2A32-BC1D-3CFE-7A34DE5DC6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FD4788-F9ED-590E-CF2F-993E196F7BF3}"/>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944583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DAA51-935E-FDAB-45E9-4F940CCCA8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885D07-E724-D8A6-8B69-C894EFFC82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0432EE-355C-1744-46F9-06A9A6BAFD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DA6F8D-8A17-9FC7-4702-1E5892F958D4}"/>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6" name="Footer Placeholder 5">
            <a:extLst>
              <a:ext uri="{FF2B5EF4-FFF2-40B4-BE49-F238E27FC236}">
                <a16:creationId xmlns:a16="http://schemas.microsoft.com/office/drawing/2014/main" id="{839C1A64-8457-F367-48B8-66F63A5884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E316A7-4C58-2C52-A081-9EDA96A445DE}"/>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4098121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B7361-FC0D-ED64-CF74-4295AA24CE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96AB26-AAAC-C8A4-B4FE-C8A48B9985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2A8DC3-6A67-0295-EDC8-DD65E1F50434}"/>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5" name="Footer Placeholder 4">
            <a:extLst>
              <a:ext uri="{FF2B5EF4-FFF2-40B4-BE49-F238E27FC236}">
                <a16:creationId xmlns:a16="http://schemas.microsoft.com/office/drawing/2014/main" id="{F5A0018E-2718-8471-3F8A-C9DEB0C156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FF5A69-0F36-4418-5A86-68418FCBFBC8}"/>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3071858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49A168-B11D-D47F-FA13-AB8F93A7B2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928F06-60D3-3D1A-8609-FC71786EF2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01B0A6-3D0D-8AFB-628E-39B4F4429971}"/>
              </a:ext>
            </a:extLst>
          </p:cNvPr>
          <p:cNvSpPr>
            <a:spLocks noGrp="1"/>
          </p:cNvSpPr>
          <p:nvPr>
            <p:ph type="dt" sz="half" idx="10"/>
          </p:nvPr>
        </p:nvSpPr>
        <p:spPr/>
        <p:txBody>
          <a:bodyPr/>
          <a:lstStyle/>
          <a:p>
            <a:fld id="{6572B9E7-8218-48DE-9F54-576AB21D39F8}" type="datetimeFigureOut">
              <a:rPr lang="en-IN" smtClean="0"/>
              <a:t>06-10-2025</a:t>
            </a:fld>
            <a:endParaRPr lang="en-IN"/>
          </a:p>
        </p:txBody>
      </p:sp>
      <p:sp>
        <p:nvSpPr>
          <p:cNvPr id="5" name="Footer Placeholder 4">
            <a:extLst>
              <a:ext uri="{FF2B5EF4-FFF2-40B4-BE49-F238E27FC236}">
                <a16:creationId xmlns:a16="http://schemas.microsoft.com/office/drawing/2014/main" id="{A770B4CD-9E6C-758B-12C2-1FFB6B7C1C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0BA1E0-9D99-5E1D-BE05-11AFD0AD8B71}"/>
              </a:ext>
            </a:extLst>
          </p:cNvPr>
          <p:cNvSpPr>
            <a:spLocks noGrp="1"/>
          </p:cNvSpPr>
          <p:nvPr>
            <p:ph type="sldNum" sz="quarter" idx="12"/>
          </p:nvPr>
        </p:nvSpPr>
        <p:spPr/>
        <p:txBody>
          <a:bodyPr/>
          <a:lstStyle/>
          <a:p>
            <a:fld id="{C8839C61-354D-4294-831E-51C2B2217726}" type="slidenum">
              <a:rPr lang="en-IN" smtClean="0"/>
              <a:t>‹#›</a:t>
            </a:fld>
            <a:endParaRPr lang="en-IN"/>
          </a:p>
        </p:txBody>
      </p:sp>
    </p:spTree>
    <p:extLst>
      <p:ext uri="{BB962C8B-B14F-4D97-AF65-F5344CB8AC3E}">
        <p14:creationId xmlns:p14="http://schemas.microsoft.com/office/powerpoint/2010/main" val="2965799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AEE926-BBFF-6492-A7FB-9F8775FADB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53A019-F1CF-5286-D37A-F96E51049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0B7047-5C92-A718-5B9A-66712D3374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72B9E7-8218-48DE-9F54-576AB21D39F8}" type="datetimeFigureOut">
              <a:rPr lang="en-IN" smtClean="0"/>
              <a:t>06-10-2025</a:t>
            </a:fld>
            <a:endParaRPr lang="en-IN"/>
          </a:p>
        </p:txBody>
      </p:sp>
      <p:sp>
        <p:nvSpPr>
          <p:cNvPr id="5" name="Footer Placeholder 4">
            <a:extLst>
              <a:ext uri="{FF2B5EF4-FFF2-40B4-BE49-F238E27FC236}">
                <a16:creationId xmlns:a16="http://schemas.microsoft.com/office/drawing/2014/main" id="{888136BF-8C30-603B-526C-3BDA70209C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CCF811-20C9-6CA3-140F-2A0A43A30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839C61-354D-4294-831E-51C2B2217726}" type="slidenum">
              <a:rPr lang="en-IN" smtClean="0"/>
              <a:t>‹#›</a:t>
            </a:fld>
            <a:endParaRPr lang="en-IN"/>
          </a:p>
        </p:txBody>
      </p:sp>
    </p:spTree>
    <p:extLst>
      <p:ext uri="{BB962C8B-B14F-4D97-AF65-F5344CB8AC3E}">
        <p14:creationId xmlns:p14="http://schemas.microsoft.com/office/powerpoint/2010/main" val="2639693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6D1D9AE-BA55-D458-E062-BD6AB0770408}"/>
              </a:ext>
            </a:extLst>
          </p:cNvPr>
          <p:cNvSpPr>
            <a:spLocks noGrp="1"/>
          </p:cNvSpPr>
          <p:nvPr>
            <p:ph type="ctrTitle"/>
          </p:nvPr>
        </p:nvSpPr>
        <p:spPr>
          <a:xfrm>
            <a:off x="784122" y="304099"/>
            <a:ext cx="10800735" cy="993059"/>
          </a:xfrm>
        </p:spPr>
        <p:txBody>
          <a:bodyPr>
            <a:noAutofit/>
          </a:bodyPr>
          <a:lstStyle/>
          <a:p>
            <a:r>
              <a:rPr lang="en-IN" sz="2800" b="1" dirty="0"/>
              <a:t>DEENBANDHU CHHOTU RAM UNIVERSITY OF SCIENCE AND TECHNOLOGY, </a:t>
            </a:r>
            <a:br>
              <a:rPr lang="en-IN" sz="2800" b="1" dirty="0"/>
            </a:br>
            <a:r>
              <a:rPr lang="en-IN" sz="2800" b="1" dirty="0" err="1"/>
              <a:t>MURTHAL</a:t>
            </a:r>
            <a:r>
              <a:rPr lang="en-IN" sz="2800" b="1" dirty="0"/>
              <a:t> (SONIPAT)</a:t>
            </a:r>
          </a:p>
        </p:txBody>
      </p:sp>
      <p:pic>
        <p:nvPicPr>
          <p:cNvPr id="6" name="Picture 5" descr="A logo of a university of science and technology&#10;&#10;Description automatically generated">
            <a:extLst>
              <a:ext uri="{FF2B5EF4-FFF2-40B4-BE49-F238E27FC236}">
                <a16:creationId xmlns:a16="http://schemas.microsoft.com/office/drawing/2014/main" id="{474AE445-BE58-2366-C421-9790265CBF41}"/>
              </a:ext>
            </a:extLst>
          </p:cNvPr>
          <p:cNvPicPr>
            <a:picLocks noChangeAspect="1"/>
          </p:cNvPicPr>
          <p:nvPr/>
        </p:nvPicPr>
        <p:blipFill>
          <a:blip r:embed="rId2"/>
          <a:stretch>
            <a:fillRect/>
          </a:stretch>
        </p:blipFill>
        <p:spPr>
          <a:xfrm>
            <a:off x="5151313" y="1628930"/>
            <a:ext cx="1889374" cy="1800070"/>
          </a:xfrm>
          <a:prstGeom prst="rect">
            <a:avLst/>
          </a:prstGeom>
        </p:spPr>
      </p:pic>
      <p:sp>
        <p:nvSpPr>
          <p:cNvPr id="9" name="TextBox 8">
            <a:extLst>
              <a:ext uri="{FF2B5EF4-FFF2-40B4-BE49-F238E27FC236}">
                <a16:creationId xmlns:a16="http://schemas.microsoft.com/office/drawing/2014/main" id="{1112BF03-C5DB-4BD1-257B-82A4C67B3FAF}"/>
              </a:ext>
            </a:extLst>
          </p:cNvPr>
          <p:cNvSpPr txBox="1"/>
          <p:nvPr/>
        </p:nvSpPr>
        <p:spPr>
          <a:xfrm>
            <a:off x="3293806" y="3854245"/>
            <a:ext cx="5712542" cy="769441"/>
          </a:xfrm>
          <a:prstGeom prst="rect">
            <a:avLst/>
          </a:prstGeom>
          <a:noFill/>
        </p:spPr>
        <p:txBody>
          <a:bodyPr wrap="square" rtlCol="0">
            <a:spAutoFit/>
          </a:bodyPr>
          <a:lstStyle/>
          <a:p>
            <a:pPr algn="ctr"/>
            <a:r>
              <a:rPr lang="en-IN" sz="2200" b="1" dirty="0"/>
              <a:t>PROFESSIONAL TRAINING PRESENTATION ON</a:t>
            </a:r>
          </a:p>
          <a:p>
            <a:pPr algn="ctr"/>
            <a:r>
              <a:rPr lang="en-IN" sz="2200" b="1" dirty="0"/>
              <a:t>WEB DEVELOPMENT</a:t>
            </a:r>
          </a:p>
        </p:txBody>
      </p:sp>
      <p:sp>
        <p:nvSpPr>
          <p:cNvPr id="12" name="TextBox 11">
            <a:extLst>
              <a:ext uri="{FF2B5EF4-FFF2-40B4-BE49-F238E27FC236}">
                <a16:creationId xmlns:a16="http://schemas.microsoft.com/office/drawing/2014/main" id="{09A3E31A-C52A-D695-5486-BB0C73A90844}"/>
              </a:ext>
            </a:extLst>
          </p:cNvPr>
          <p:cNvSpPr txBox="1"/>
          <p:nvPr/>
        </p:nvSpPr>
        <p:spPr>
          <a:xfrm>
            <a:off x="3805084" y="4955458"/>
            <a:ext cx="4758813" cy="1429622"/>
          </a:xfrm>
          <a:prstGeom prst="rect">
            <a:avLst/>
          </a:prstGeom>
          <a:noFill/>
        </p:spPr>
        <p:txBody>
          <a:bodyPr wrap="square" rtlCol="0">
            <a:spAutoFit/>
          </a:bodyPr>
          <a:lstStyle/>
          <a:p>
            <a:pPr algn="ctr">
              <a:lnSpc>
                <a:spcPct val="150000"/>
              </a:lnSpc>
            </a:pPr>
            <a:r>
              <a:rPr lang="en-IN" sz="2000" b="1" dirty="0"/>
              <a:t>SUBMITTED TO : DR. SANJEEV </a:t>
            </a:r>
            <a:r>
              <a:rPr lang="en-IN" sz="2000" b="1" dirty="0" err="1"/>
              <a:t>INDORA</a:t>
            </a:r>
            <a:endParaRPr lang="en-IN" sz="2000" b="1" dirty="0"/>
          </a:p>
          <a:p>
            <a:pPr algn="ctr">
              <a:lnSpc>
                <a:spcPct val="150000"/>
              </a:lnSpc>
            </a:pPr>
            <a:r>
              <a:rPr lang="en-IN" sz="2000" b="1" dirty="0"/>
              <a:t>SUBMITTED BY : KAUSHAL</a:t>
            </a:r>
          </a:p>
          <a:p>
            <a:pPr algn="ctr">
              <a:lnSpc>
                <a:spcPct val="150000"/>
              </a:lnSpc>
            </a:pPr>
            <a:r>
              <a:rPr lang="en-IN" sz="2000" b="1" dirty="0"/>
              <a:t>ROLL NO : 22001001054</a:t>
            </a:r>
          </a:p>
        </p:txBody>
      </p:sp>
    </p:spTree>
    <p:extLst>
      <p:ext uri="{BB962C8B-B14F-4D97-AF65-F5344CB8AC3E}">
        <p14:creationId xmlns:p14="http://schemas.microsoft.com/office/powerpoint/2010/main" val="3356923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D5C268-9553-82B2-8ECE-F91CE7D79DA6}"/>
              </a:ext>
            </a:extLst>
          </p:cNvPr>
          <p:cNvSpPr txBox="1"/>
          <p:nvPr/>
        </p:nvSpPr>
        <p:spPr>
          <a:xfrm>
            <a:off x="668593" y="393290"/>
            <a:ext cx="7620000" cy="615553"/>
          </a:xfrm>
          <a:prstGeom prst="rect">
            <a:avLst/>
          </a:prstGeom>
          <a:noFill/>
        </p:spPr>
        <p:txBody>
          <a:bodyPr wrap="square" rtlCol="0">
            <a:spAutoFit/>
          </a:bodyPr>
          <a:lstStyle/>
          <a:p>
            <a:r>
              <a:rPr lang="en-IN" sz="3400" b="1" i="1" u="sng" dirty="0"/>
              <a:t>ABOUT THE ORGANISATION</a:t>
            </a:r>
          </a:p>
        </p:txBody>
      </p:sp>
      <p:sp>
        <p:nvSpPr>
          <p:cNvPr id="6" name="TextBox 5">
            <a:extLst>
              <a:ext uri="{FF2B5EF4-FFF2-40B4-BE49-F238E27FC236}">
                <a16:creationId xmlns:a16="http://schemas.microsoft.com/office/drawing/2014/main" id="{5E885B63-294A-8CBD-C75D-07C8538B746B}"/>
              </a:ext>
            </a:extLst>
          </p:cNvPr>
          <p:cNvSpPr txBox="1"/>
          <p:nvPr/>
        </p:nvSpPr>
        <p:spPr>
          <a:xfrm flipV="1">
            <a:off x="1003936" y="5904892"/>
            <a:ext cx="9595237" cy="369332"/>
          </a:xfrm>
          <a:prstGeom prst="rect">
            <a:avLst/>
          </a:prstGeom>
          <a:noFill/>
        </p:spPr>
        <p:txBody>
          <a:bodyPr wrap="square" rtlCol="0">
            <a:spAutoFit/>
          </a:bodyPr>
          <a:lstStyle/>
          <a:p>
            <a:r>
              <a:rPr lang="en-IN" dirty="0"/>
              <a:t>  </a:t>
            </a:r>
          </a:p>
        </p:txBody>
      </p:sp>
      <p:sp>
        <p:nvSpPr>
          <p:cNvPr id="7" name="Rectangle 2">
            <a:extLst>
              <a:ext uri="{FF2B5EF4-FFF2-40B4-BE49-F238E27FC236}">
                <a16:creationId xmlns:a16="http://schemas.microsoft.com/office/drawing/2014/main" id="{13D999A1-0ED1-1EB9-7E80-DEB7FD135F09}"/>
              </a:ext>
            </a:extLst>
          </p:cNvPr>
          <p:cNvSpPr>
            <a:spLocks noChangeArrowheads="1"/>
          </p:cNvSpPr>
          <p:nvPr/>
        </p:nvSpPr>
        <p:spPr bwMode="auto">
          <a:xfrm>
            <a:off x="668593" y="1207735"/>
            <a:ext cx="7492181"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Founded:</a:t>
            </a:r>
            <a:r>
              <a:rPr kumimoji="0" lang="en-US" altLang="en-US" sz="1800" b="0" i="0" u="none" strike="noStrike" cap="none" normalizeH="0" baseline="0" dirty="0">
                <a:ln>
                  <a:noFill/>
                </a:ln>
                <a:solidFill>
                  <a:schemeClr val="tx1"/>
                </a:solidFill>
                <a:effectLst/>
                <a:latin typeface="Arial" panose="020B0604020202020204" pitchFamily="34" charset="0"/>
              </a:rPr>
              <a:t> 2010 by Sarvesh Agrawal, </a:t>
            </a:r>
            <a:r>
              <a:rPr kumimoji="0" lang="en-US" altLang="en-US" sz="1800" b="0" i="0" u="none" strike="noStrike" cap="none" normalizeH="0" baseline="0" dirty="0" err="1">
                <a:ln>
                  <a:noFill/>
                </a:ln>
                <a:solidFill>
                  <a:schemeClr val="tx1"/>
                </a:solidFill>
                <a:effectLst/>
                <a:latin typeface="Arial" panose="020B0604020202020204" pitchFamily="34" charset="0"/>
              </a:rPr>
              <a:t>IIT</a:t>
            </a:r>
            <a:r>
              <a:rPr kumimoji="0" lang="en-US" altLang="en-US" sz="1800" b="0" i="0" u="none" strike="noStrike" cap="none" normalizeH="0" baseline="0" dirty="0">
                <a:ln>
                  <a:noFill/>
                </a:ln>
                <a:solidFill>
                  <a:schemeClr val="tx1"/>
                </a:solidFill>
                <a:effectLst/>
                <a:latin typeface="Arial" panose="020B0604020202020204" pitchFamily="34" charset="0"/>
              </a:rPr>
              <a:t> Madras alumnus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Headquarters:</a:t>
            </a:r>
            <a:r>
              <a:rPr kumimoji="0" lang="en-US" altLang="en-US" sz="1800" b="0" i="0" u="none" strike="noStrike" cap="none" normalizeH="0" baseline="0" dirty="0">
                <a:ln>
                  <a:noFill/>
                </a:ln>
                <a:solidFill>
                  <a:schemeClr val="tx1"/>
                </a:solidFill>
                <a:effectLst/>
                <a:latin typeface="Arial" panose="020B0604020202020204" pitchFamily="34" charset="0"/>
              </a:rPr>
              <a:t> Gurgaon, Haryana, India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Nature of Platform:</a:t>
            </a:r>
            <a:r>
              <a:rPr kumimoji="0" lang="en-US" altLang="en-US" sz="1800" b="0" i="0" u="none" strike="noStrike" cap="none" normalizeH="0" baseline="0" dirty="0">
                <a:ln>
                  <a:noFill/>
                </a:ln>
                <a:solidFill>
                  <a:schemeClr val="tx1"/>
                </a:solidFill>
                <a:effectLst/>
                <a:latin typeface="Arial" panose="020B0604020202020204" pitchFamily="34" charset="0"/>
              </a:rPr>
              <a:t> India’s largest internships and online training      platform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Reach:</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21+ million registered students</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300,000+ companies posting internships/jobs</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Available across 80+ countries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Core Offerings: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Internships (Paid &amp; Unpaid) across 20+ profiles</a:t>
            </a: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Online training in fields like Web Dev, React, Data Science etc.  </a:t>
            </a:r>
          </a:p>
          <a:p>
            <a:pPr marL="742950" lvl="1" indent="-28575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Fresher jobs and placement preparation tools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4" descr="Internships | Jobs | Trainings ...">
            <a:extLst>
              <a:ext uri="{FF2B5EF4-FFF2-40B4-BE49-F238E27FC236}">
                <a16:creationId xmlns:a16="http://schemas.microsoft.com/office/drawing/2014/main" id="{AB03EEEA-5EE0-C9CE-76D4-0F1668ED3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258147">
            <a:off x="6645904" y="1671809"/>
            <a:ext cx="5723777" cy="2733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227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536ED1-16BB-BEB0-4DAF-4E8BE392F55D}"/>
              </a:ext>
            </a:extLst>
          </p:cNvPr>
          <p:cNvSpPr txBox="1"/>
          <p:nvPr/>
        </p:nvSpPr>
        <p:spPr>
          <a:xfrm>
            <a:off x="835742" y="462115"/>
            <a:ext cx="7305368" cy="615553"/>
          </a:xfrm>
          <a:prstGeom prst="rect">
            <a:avLst/>
          </a:prstGeom>
          <a:noFill/>
        </p:spPr>
        <p:txBody>
          <a:bodyPr wrap="square" rtlCol="0">
            <a:spAutoFit/>
          </a:bodyPr>
          <a:lstStyle/>
          <a:p>
            <a:r>
              <a:rPr lang="en-IN" sz="3400" b="1" i="1" u="sng" dirty="0"/>
              <a:t>ACHIEVEMENTS AND IMPACT</a:t>
            </a:r>
          </a:p>
        </p:txBody>
      </p:sp>
      <p:sp>
        <p:nvSpPr>
          <p:cNvPr id="3" name="Rectangle 1">
            <a:extLst>
              <a:ext uri="{FF2B5EF4-FFF2-40B4-BE49-F238E27FC236}">
                <a16:creationId xmlns:a16="http://schemas.microsoft.com/office/drawing/2014/main" id="{FA985D28-EBC9-E9B0-4228-A16C5042058E}"/>
              </a:ext>
            </a:extLst>
          </p:cNvPr>
          <p:cNvSpPr>
            <a:spLocks noChangeArrowheads="1"/>
          </p:cNvSpPr>
          <p:nvPr/>
        </p:nvSpPr>
        <p:spPr bwMode="auto">
          <a:xfrm>
            <a:off x="835742" y="1414086"/>
            <a:ext cx="10815484"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Skill Development</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Over </a:t>
            </a:r>
            <a:r>
              <a:rPr kumimoji="0" lang="en-US" altLang="en-US" sz="1800" b="1" i="0" u="none" strike="noStrike" cap="none" normalizeH="0" baseline="0" dirty="0">
                <a:ln>
                  <a:noFill/>
                </a:ln>
                <a:solidFill>
                  <a:schemeClr val="tx1"/>
                </a:solidFill>
                <a:effectLst/>
                <a:latin typeface="Arial" panose="020B0604020202020204" pitchFamily="34" charset="0"/>
              </a:rPr>
              <a:t>7 million+ students trained</a:t>
            </a:r>
            <a:r>
              <a:rPr kumimoji="0" lang="en-US" altLang="en-US" sz="1800" b="0" i="0" u="none" strike="noStrike" cap="none" normalizeH="0" baseline="0" dirty="0">
                <a:ln>
                  <a:noFill/>
                </a:ln>
                <a:solidFill>
                  <a:schemeClr val="tx1"/>
                </a:solidFill>
                <a:effectLst/>
                <a:latin typeface="Arial" panose="020B0604020202020204" pitchFamily="34" charset="0"/>
              </a:rPr>
              <a:t> in technical &amp; professional skills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Recognitions &amp; Awards</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Featured by </a:t>
            </a:r>
            <a:r>
              <a:rPr kumimoji="0" lang="en-US" altLang="en-US" b="0" i="1" u="none" strike="noStrike" cap="none" normalizeH="0" baseline="0" dirty="0">
                <a:ln>
                  <a:noFill/>
                </a:ln>
                <a:solidFill>
                  <a:schemeClr val="tx1"/>
                </a:solidFill>
                <a:effectLst/>
                <a:latin typeface="Arial" panose="020B0604020202020204" pitchFamily="34" charset="0"/>
              </a:rPr>
              <a:t>Forbes 30 Under 30</a:t>
            </a:r>
            <a:r>
              <a:rPr kumimoji="0" lang="en-US" altLang="en-US" b="0" i="0" u="none" strike="noStrike" cap="none" normalizeH="0" baseline="0" dirty="0">
                <a:ln>
                  <a:noFill/>
                </a:ln>
                <a:solidFill>
                  <a:schemeClr val="tx1"/>
                </a:solidFill>
                <a:effectLst/>
                <a:latin typeface="Arial" panose="020B0604020202020204" pitchFamily="34" charset="0"/>
              </a:rPr>
              <a:t> (Asia List)</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Endorsed by multiple government initiatives like </a:t>
            </a:r>
            <a:r>
              <a:rPr kumimoji="0" lang="en-US" altLang="en-US" b="0" i="0" u="none" strike="noStrike" cap="none" normalizeH="0" baseline="0" dirty="0" err="1">
                <a:ln>
                  <a:noFill/>
                </a:ln>
                <a:solidFill>
                  <a:schemeClr val="tx1"/>
                </a:solidFill>
                <a:effectLst/>
                <a:latin typeface="Arial" panose="020B0604020202020204" pitchFamily="34" charset="0"/>
              </a:rPr>
              <a:t>AICTE</a:t>
            </a:r>
            <a:r>
              <a:rPr kumimoji="0" lang="en-US" altLang="en-US" b="0" i="0" u="none" strike="noStrike" cap="none" normalizeH="0" baseline="0" dirty="0">
                <a:ln>
                  <a:noFill/>
                </a:ln>
                <a:solidFill>
                  <a:schemeClr val="tx1"/>
                </a:solidFill>
                <a:effectLst/>
                <a:latin typeface="Arial" panose="020B0604020202020204" pitchFamily="34" charset="0"/>
              </a:rPr>
              <a:t> Internship Portal</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Industry Tie-ups</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Collaborates with leading companies such as Amazon, HCL, Flipkart, &amp; </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Reliance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Social Impact</a:t>
            </a:r>
            <a:r>
              <a:rPr kumimoji="0" lang="en-US" altLang="en-US" sz="1800" b="1" i="0" u="none" strike="noStrike" cap="none" normalizeH="0" baseline="0" dirty="0">
                <a:ln>
                  <a:noFill/>
                </a:ln>
                <a:solidFill>
                  <a:schemeClr val="tx1"/>
                </a:solidFill>
                <a:effectLst/>
                <a:latin typeface="Arial" panose="020B0604020202020204" pitchFamily="34" charset="0"/>
              </a:rPr>
              <a:t>:</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Helps first-time job seekers gain industry experience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strike="noStrike" cap="none" normalizeH="0" baseline="0" dirty="0">
                <a:ln>
                  <a:noFill/>
                </a:ln>
                <a:solidFill>
                  <a:schemeClr val="tx1"/>
                </a:solidFill>
                <a:effectLst/>
                <a:latin typeface="Arial" panose="020B0604020202020204" pitchFamily="34" charset="0"/>
              </a:rPr>
              <a:t> </a:t>
            </a:r>
            <a:r>
              <a:rPr kumimoji="0" lang="en-US" altLang="en-US" sz="1800" b="1" i="0" u="sng" strike="noStrike" cap="none" normalizeH="0" baseline="0" dirty="0">
                <a:ln>
                  <a:noFill/>
                </a:ln>
                <a:solidFill>
                  <a:schemeClr val="tx1"/>
                </a:solidFill>
                <a:effectLst/>
                <a:latin typeface="Arial" panose="020B0604020202020204" pitchFamily="34" charset="0"/>
              </a:rPr>
              <a:t>Learning Experience</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Self-paced, beginner-friendly courses</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Certificate of completion provided</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Practical projects, assignments, and mentorship support</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 Promotes work-from-home, remote &amp; inclusive opportunities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4541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285014-D198-9250-F78C-C96345916103}"/>
              </a:ext>
            </a:extLst>
          </p:cNvPr>
          <p:cNvSpPr txBox="1"/>
          <p:nvPr/>
        </p:nvSpPr>
        <p:spPr>
          <a:xfrm>
            <a:off x="648931" y="430924"/>
            <a:ext cx="9547122" cy="615553"/>
          </a:xfrm>
          <a:prstGeom prst="rect">
            <a:avLst/>
          </a:prstGeom>
          <a:noFill/>
        </p:spPr>
        <p:txBody>
          <a:bodyPr wrap="square" rtlCol="0">
            <a:spAutoFit/>
          </a:bodyPr>
          <a:lstStyle/>
          <a:p>
            <a:r>
              <a:rPr lang="en-IN" sz="3400" b="1" i="1" u="sng" dirty="0"/>
              <a:t>ABOUT THE COURSE</a:t>
            </a:r>
          </a:p>
        </p:txBody>
      </p:sp>
      <p:sp>
        <p:nvSpPr>
          <p:cNvPr id="4" name="Rectangle 1">
            <a:extLst>
              <a:ext uri="{FF2B5EF4-FFF2-40B4-BE49-F238E27FC236}">
                <a16:creationId xmlns:a16="http://schemas.microsoft.com/office/drawing/2014/main" id="{0309E4C8-76DC-72B7-937E-F9E972ADDBF7}"/>
              </a:ext>
            </a:extLst>
          </p:cNvPr>
          <p:cNvSpPr>
            <a:spLocks noChangeArrowheads="1"/>
          </p:cNvSpPr>
          <p:nvPr/>
        </p:nvSpPr>
        <p:spPr bwMode="auto">
          <a:xfrm>
            <a:off x="648931" y="1391454"/>
            <a:ext cx="78461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Course Duration:</a:t>
            </a:r>
            <a:r>
              <a:rPr kumimoji="0" lang="en-US" altLang="en-US" sz="1800" b="0" i="0" u="none" strike="noStrike" cap="none" normalizeH="0" baseline="0" dirty="0">
                <a:ln>
                  <a:noFill/>
                </a:ln>
                <a:solidFill>
                  <a:schemeClr val="tx1"/>
                </a:solidFill>
                <a:effectLst/>
                <a:latin typeface="Arial" panose="020B0604020202020204" pitchFamily="34" charset="0"/>
              </a:rPr>
              <a:t> 6 Weeks (4 Weeks Learning + 2 Weeks Major Project)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Platform: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Internshala</a:t>
            </a:r>
            <a:r>
              <a:rPr kumimoji="0" lang="en-US" altLang="en-US" sz="1800" b="0" i="0" u="none" strike="noStrike" cap="none" normalizeH="0" baseline="0" dirty="0">
                <a:ln>
                  <a:noFill/>
                </a:ln>
                <a:solidFill>
                  <a:schemeClr val="tx1"/>
                </a:solidFill>
                <a:effectLst/>
                <a:latin typeface="Arial" panose="020B0604020202020204" pitchFamily="34" charset="0"/>
              </a:rPr>
              <a:t> Trainings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Course Objective:</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To master the fundamentals of React JS and build      dynamic, responsive web applications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Key Topics Covered: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Introduction to React &amp; Component-Based Architecture</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JSX &amp; Virtual DOM</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Props, State &amp; Event Handling</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React Hooks (</a:t>
            </a:r>
            <a:r>
              <a:rPr kumimoji="0" lang="en-US" altLang="en-US" b="0" i="0" u="none" strike="noStrike" cap="none" normalizeH="0" baseline="0" dirty="0" err="1">
                <a:ln>
                  <a:noFill/>
                </a:ln>
                <a:solidFill>
                  <a:schemeClr val="tx1"/>
                </a:solidFill>
                <a:effectLst/>
                <a:latin typeface="Arial" panose="020B0604020202020204" pitchFamily="34" charset="0"/>
              </a:rPr>
              <a:t>useState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useEffect</a:t>
            </a:r>
            <a:r>
              <a:rPr kumimoji="0" lang="en-US" altLang="en-US" b="0" i="0" u="none" strike="noStrike" cap="none" normalizeH="0" baseline="0" dirty="0">
                <a:ln>
                  <a:noFill/>
                </a:ln>
                <a:solidFill>
                  <a:schemeClr val="tx1"/>
                </a:solidFill>
                <a:effectLst/>
                <a:latin typeface="Arial" panose="020B0604020202020204" pitchFamily="34" charset="0"/>
              </a:rPr>
              <a:t>)</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Routing with React Router</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API Integration &amp; Fetching Data</a:t>
            </a:r>
          </a:p>
          <a:p>
            <a:pPr lvl="1"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Styling with CSS &amp; Conditional Rendering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5" name="Picture 3">
            <a:extLst>
              <a:ext uri="{FF2B5EF4-FFF2-40B4-BE49-F238E27FC236}">
                <a16:creationId xmlns:a16="http://schemas.microsoft.com/office/drawing/2014/main" id="{56A39CE7-931C-557C-573A-D826FC24D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5470" y="2032820"/>
            <a:ext cx="3852863"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861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7997C5-388D-A7CA-076A-898D9AEF4E85}"/>
              </a:ext>
            </a:extLst>
          </p:cNvPr>
          <p:cNvSpPr txBox="1"/>
          <p:nvPr/>
        </p:nvSpPr>
        <p:spPr>
          <a:xfrm>
            <a:off x="904568" y="575824"/>
            <a:ext cx="9783096" cy="615553"/>
          </a:xfrm>
          <a:prstGeom prst="rect">
            <a:avLst/>
          </a:prstGeom>
          <a:noFill/>
        </p:spPr>
        <p:txBody>
          <a:bodyPr wrap="square" rtlCol="0">
            <a:spAutoFit/>
          </a:bodyPr>
          <a:lstStyle/>
          <a:p>
            <a:r>
              <a:rPr lang="en-IN" sz="3400" b="1" i="1" u="sng" dirty="0"/>
              <a:t>PROJECT – CLOUD STORAGE MANAGEMENT SYSTEM</a:t>
            </a:r>
          </a:p>
        </p:txBody>
      </p:sp>
      <p:sp>
        <p:nvSpPr>
          <p:cNvPr id="3" name="Rectangle 1">
            <a:extLst>
              <a:ext uri="{FF2B5EF4-FFF2-40B4-BE49-F238E27FC236}">
                <a16:creationId xmlns:a16="http://schemas.microsoft.com/office/drawing/2014/main" id="{A1BFB007-1109-3970-0E61-227E3FDB2AB4}"/>
              </a:ext>
            </a:extLst>
          </p:cNvPr>
          <p:cNvSpPr>
            <a:spLocks noChangeArrowheads="1"/>
          </p:cNvSpPr>
          <p:nvPr/>
        </p:nvSpPr>
        <p:spPr bwMode="auto">
          <a:xfrm>
            <a:off x="825910" y="1850194"/>
            <a:ext cx="6145486"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Developed a </a:t>
            </a:r>
            <a:r>
              <a:rPr kumimoji="0" lang="en-US" altLang="en-US" sz="2200" b="1" i="0" u="none" strike="noStrike" cap="none" normalizeH="0" baseline="0" dirty="0">
                <a:ln>
                  <a:noFill/>
                </a:ln>
                <a:solidFill>
                  <a:schemeClr val="tx1"/>
                </a:solidFill>
                <a:effectLst/>
                <a:latin typeface="Arial" panose="020B0604020202020204" pitchFamily="34" charset="0"/>
              </a:rPr>
              <a:t>web-based platform</a:t>
            </a:r>
            <a:r>
              <a:rPr kumimoji="0" lang="en-US" altLang="en-US" sz="2200" b="0" i="0" u="none" strike="noStrike" cap="none" normalizeH="0" baseline="0" dirty="0">
                <a:ln>
                  <a:noFill/>
                </a:ln>
                <a:solidFill>
                  <a:schemeClr val="tx1"/>
                </a:solidFill>
                <a:effectLst/>
                <a:latin typeface="Arial" panose="020B0604020202020204" pitchFamily="34" charset="0"/>
              </a:rPr>
              <a:t> that allows users to upload, organize, and manage their files online.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Users can </a:t>
            </a:r>
            <a:r>
              <a:rPr kumimoji="0" lang="en-US" altLang="en-US" sz="2200" b="1" i="0" u="none" strike="noStrike" cap="none" normalizeH="0" baseline="0" dirty="0">
                <a:ln>
                  <a:noFill/>
                </a:ln>
                <a:solidFill>
                  <a:schemeClr val="tx1"/>
                </a:solidFill>
                <a:effectLst/>
                <a:latin typeface="Arial" panose="020B0604020202020204" pitchFamily="34" charset="0"/>
              </a:rPr>
              <a:t>create folders, rename files, delete or recover them from bin</a:t>
            </a:r>
            <a:r>
              <a:rPr kumimoji="0" lang="en-US" altLang="en-US" sz="2200" b="0" i="0" u="none" strike="noStrike" cap="none" normalizeH="0" baseline="0" dirty="0">
                <a:ln>
                  <a:noFill/>
                </a:ln>
                <a:solidFill>
                  <a:schemeClr val="tx1"/>
                </a:solidFill>
                <a:effectLst/>
                <a:latin typeface="Arial" panose="020B0604020202020204" pitchFamily="34" charset="0"/>
              </a:rPr>
              <a:t>, and access recently used or shared files.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Designed with a </a:t>
            </a:r>
            <a:r>
              <a:rPr kumimoji="0" lang="en-US" altLang="en-US" sz="2200" b="1" i="0" u="none" strike="noStrike" cap="none" normalizeH="0" baseline="0" dirty="0">
                <a:ln>
                  <a:noFill/>
                </a:ln>
                <a:solidFill>
                  <a:schemeClr val="tx1"/>
                </a:solidFill>
                <a:effectLst/>
                <a:latin typeface="Arial" panose="020B0604020202020204" pitchFamily="34" charset="0"/>
              </a:rPr>
              <a:t>clean and responsive interface</a:t>
            </a:r>
            <a:r>
              <a:rPr kumimoji="0" lang="en-US" altLang="en-US" sz="2200" b="0" i="0" u="none" strike="noStrike" cap="none" normalizeH="0" baseline="0" dirty="0">
                <a:ln>
                  <a:noFill/>
                </a:ln>
                <a:solidFill>
                  <a:schemeClr val="tx1"/>
                </a:solidFill>
                <a:effectLst/>
                <a:latin typeface="Arial" panose="020B0604020202020204" pitchFamily="34" charset="0"/>
              </a:rPr>
              <a:t> for a smooth and user-friendly experience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5" name="Picture 4">
            <a:extLst>
              <a:ext uri="{FF2B5EF4-FFF2-40B4-BE49-F238E27FC236}">
                <a16:creationId xmlns:a16="http://schemas.microsoft.com/office/drawing/2014/main" id="{0D94BEB1-2784-093C-A768-B43A92EDD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9271" y="1966451"/>
            <a:ext cx="3429000" cy="3429000"/>
          </a:xfrm>
          <a:prstGeom prst="rect">
            <a:avLst/>
          </a:prstGeom>
        </p:spPr>
      </p:pic>
    </p:spTree>
    <p:extLst>
      <p:ext uri="{BB962C8B-B14F-4D97-AF65-F5344CB8AC3E}">
        <p14:creationId xmlns:p14="http://schemas.microsoft.com/office/powerpoint/2010/main" val="2979441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6B63BA-51BC-1B9A-F83B-E3CE073235B2}"/>
              </a:ext>
            </a:extLst>
          </p:cNvPr>
          <p:cNvSpPr txBox="1"/>
          <p:nvPr/>
        </p:nvSpPr>
        <p:spPr>
          <a:xfrm>
            <a:off x="1408778" y="954426"/>
            <a:ext cx="6164826" cy="707886"/>
          </a:xfrm>
          <a:prstGeom prst="rect">
            <a:avLst/>
          </a:prstGeom>
          <a:noFill/>
        </p:spPr>
        <p:txBody>
          <a:bodyPr wrap="square" rtlCol="0">
            <a:spAutoFit/>
          </a:bodyPr>
          <a:lstStyle/>
          <a:p>
            <a:r>
              <a:rPr lang="en-IN" sz="4000" b="1" i="1" u="sng" dirty="0"/>
              <a:t>TECH STACK</a:t>
            </a:r>
          </a:p>
        </p:txBody>
      </p:sp>
      <p:sp>
        <p:nvSpPr>
          <p:cNvPr id="4" name="TextBox 3">
            <a:extLst>
              <a:ext uri="{FF2B5EF4-FFF2-40B4-BE49-F238E27FC236}">
                <a16:creationId xmlns:a16="http://schemas.microsoft.com/office/drawing/2014/main" id="{E1FC78B4-CC1E-FA5B-CA60-F5258A718F2B}"/>
              </a:ext>
            </a:extLst>
          </p:cNvPr>
          <p:cNvSpPr txBox="1"/>
          <p:nvPr/>
        </p:nvSpPr>
        <p:spPr>
          <a:xfrm>
            <a:off x="953728" y="2090172"/>
            <a:ext cx="6096000" cy="3416320"/>
          </a:xfrm>
          <a:prstGeom prst="rect">
            <a:avLst/>
          </a:prstGeom>
          <a:noFill/>
        </p:spPr>
        <p:txBody>
          <a:bodyPr wrap="square">
            <a:spAutoFit/>
          </a:bodyPr>
          <a:lstStyle/>
          <a:p>
            <a:pPr marL="342900" indent="-342900">
              <a:buFont typeface="Arial" panose="020B0604020202020204" pitchFamily="34" charset="0"/>
              <a:buChar char="•"/>
            </a:pPr>
            <a:r>
              <a:rPr lang="en-IN" sz="2400" b="1" dirty="0"/>
              <a:t>Frontend:</a:t>
            </a:r>
            <a:r>
              <a:rPr lang="en-IN" sz="2400" dirty="0"/>
              <a:t> React (Component-based UI, React Router)</a:t>
            </a:r>
          </a:p>
          <a:p>
            <a:endParaRPr lang="en-IN" sz="2400" b="1" dirty="0"/>
          </a:p>
          <a:p>
            <a:pPr marL="342900" indent="-342900">
              <a:buFont typeface="Arial" panose="020B0604020202020204" pitchFamily="34" charset="0"/>
              <a:buChar char="•"/>
            </a:pPr>
            <a:r>
              <a:rPr lang="en-IN" sz="2400" b="1" dirty="0"/>
              <a:t>Backend:</a:t>
            </a:r>
            <a:r>
              <a:rPr lang="en-IN" sz="2400" dirty="0"/>
              <a:t> </a:t>
            </a:r>
            <a:r>
              <a:rPr lang="en-IN" sz="2400" dirty="0" err="1"/>
              <a:t>Appwrite</a:t>
            </a:r>
            <a:r>
              <a:rPr lang="en-IN" sz="2400" dirty="0"/>
              <a:t> (Authentication, Database, Storage API)</a:t>
            </a:r>
          </a:p>
          <a:p>
            <a:endParaRPr lang="en-IN" sz="2400" dirty="0"/>
          </a:p>
          <a:p>
            <a:pPr marL="342900" indent="-342900">
              <a:buFont typeface="Arial" panose="020B0604020202020204" pitchFamily="34" charset="0"/>
              <a:buChar char="•"/>
            </a:pPr>
            <a:r>
              <a:rPr lang="en-IN" sz="2400" b="1" dirty="0"/>
              <a:t>Styling:</a:t>
            </a:r>
            <a:r>
              <a:rPr lang="en-IN" sz="2400" dirty="0"/>
              <a:t> Tailwind CSS</a:t>
            </a:r>
          </a:p>
          <a:p>
            <a:endParaRPr lang="en-IN" sz="2400" dirty="0"/>
          </a:p>
          <a:p>
            <a:pPr marL="342900" indent="-342900">
              <a:buFont typeface="Arial" panose="020B0604020202020204" pitchFamily="34" charset="0"/>
              <a:buChar char="•"/>
            </a:pPr>
            <a:r>
              <a:rPr lang="en-IN" sz="2400" b="1" dirty="0" err="1"/>
              <a:t>Hostring</a:t>
            </a:r>
            <a:r>
              <a:rPr lang="en-IN" sz="2400" b="1" dirty="0"/>
              <a:t>: </a:t>
            </a:r>
            <a:r>
              <a:rPr lang="en-IN" sz="2400" dirty="0" err="1"/>
              <a:t>Vercel</a:t>
            </a:r>
            <a:endParaRPr lang="en-IN" sz="2400" dirty="0"/>
          </a:p>
        </p:txBody>
      </p:sp>
      <p:pic>
        <p:nvPicPr>
          <p:cNvPr id="5124" name="Picture 4" descr="Appwrite Logo PNG Vector (SVG) Free Download">
            <a:extLst>
              <a:ext uri="{FF2B5EF4-FFF2-40B4-BE49-F238E27FC236}">
                <a16:creationId xmlns:a16="http://schemas.microsoft.com/office/drawing/2014/main" id="{D33837F7-0A99-03CC-EC9F-8101EDBD61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3604" y="3025166"/>
            <a:ext cx="3323303" cy="3323303"/>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configure Tailwind CSS with Next js ...">
            <a:extLst>
              <a:ext uri="{FF2B5EF4-FFF2-40B4-BE49-F238E27FC236}">
                <a16:creationId xmlns:a16="http://schemas.microsoft.com/office/drawing/2014/main" id="{BA382303-5A62-3ADA-B38B-044DA19669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9369" y="2270293"/>
            <a:ext cx="3187188" cy="1768307"/>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286353BC-DC83-981A-64AF-0E97BC9BA4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0129" y="1665339"/>
            <a:ext cx="2266950"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533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EB0BCE-CCFB-68A0-C70F-7FBA27CD91A2}"/>
              </a:ext>
            </a:extLst>
          </p:cNvPr>
          <p:cNvSpPr txBox="1"/>
          <p:nvPr/>
        </p:nvSpPr>
        <p:spPr>
          <a:xfrm>
            <a:off x="806245" y="580103"/>
            <a:ext cx="8485239" cy="615553"/>
          </a:xfrm>
          <a:prstGeom prst="rect">
            <a:avLst/>
          </a:prstGeom>
          <a:noFill/>
        </p:spPr>
        <p:txBody>
          <a:bodyPr wrap="square" rtlCol="0">
            <a:spAutoFit/>
          </a:bodyPr>
          <a:lstStyle/>
          <a:p>
            <a:r>
              <a:rPr lang="en-IN" sz="3400" b="1" i="1" u="sng" dirty="0"/>
              <a:t>WHY REACT + </a:t>
            </a:r>
            <a:r>
              <a:rPr lang="en-IN" sz="3400" b="1" i="1" u="sng" dirty="0" err="1"/>
              <a:t>APPWRITE</a:t>
            </a:r>
            <a:r>
              <a:rPr lang="en-IN" sz="3400" b="1" i="1" u="sng" dirty="0"/>
              <a:t> ?</a:t>
            </a:r>
          </a:p>
        </p:txBody>
      </p:sp>
      <p:sp>
        <p:nvSpPr>
          <p:cNvPr id="3" name="Rectangle 1">
            <a:extLst>
              <a:ext uri="{FF2B5EF4-FFF2-40B4-BE49-F238E27FC236}">
                <a16:creationId xmlns:a16="http://schemas.microsoft.com/office/drawing/2014/main" id="{6C90176B-78F2-886A-ECBA-8ED65E98C4A6}"/>
              </a:ext>
            </a:extLst>
          </p:cNvPr>
          <p:cNvSpPr>
            <a:spLocks noChangeArrowheads="1"/>
          </p:cNvSpPr>
          <p:nvPr/>
        </p:nvSpPr>
        <p:spPr bwMode="auto">
          <a:xfrm>
            <a:off x="733079" y="1349544"/>
            <a:ext cx="11413894"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1" u="sng" strike="noStrike" cap="none" normalizeH="0" baseline="0" dirty="0">
                <a:ln>
                  <a:noFill/>
                </a:ln>
                <a:solidFill>
                  <a:schemeClr val="tx1"/>
                </a:solidFill>
                <a:effectLst/>
                <a:latin typeface="Arial" panose="020B0604020202020204" pitchFamily="34" charset="0"/>
              </a:rPr>
              <a:t>React </a:t>
            </a:r>
            <a:r>
              <a:rPr kumimoji="0" lang="en-US" altLang="en-US" sz="2000" b="1" i="1" u="none" strike="noStrike" cap="none" normalizeH="0" baseline="0" dirty="0">
                <a:ln>
                  <a:noFill/>
                </a:ln>
                <a:solidFill>
                  <a:schemeClr val="tx1"/>
                </a:solidFill>
                <a:effectLst/>
                <a:latin typeface="Arial" panose="020B0604020202020204" pitchFamily="34" charset="0"/>
              </a:rPr>
              <a:t>:</a:t>
            </a:r>
            <a:endParaRPr kumimoji="0" lang="en-US" altLang="en-US" sz="2000" b="0" i="1"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15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Fast &amp; efficient rendering using Virtual DOM</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Reusable components for cleaner, modular code</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Better state management with hooks (</a:t>
            </a:r>
            <a:r>
              <a:rPr kumimoji="0" lang="en-US" altLang="en-US" sz="2000" b="0" i="0" u="none" strike="noStrike" cap="none" normalizeH="0" baseline="0" dirty="0" err="1">
                <a:ln>
                  <a:noFill/>
                </a:ln>
                <a:solidFill>
                  <a:schemeClr val="tx1"/>
                </a:solidFill>
                <a:effectLst/>
                <a:latin typeface="Arial" panose="020B0604020202020204" pitchFamily="34" charset="0"/>
              </a:rPr>
              <a:t>useState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useEffect</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Large community support &amp; ecosystem for faster development</a:t>
            </a:r>
          </a:p>
          <a:p>
            <a:pPr lvl="1"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1" u="sng" strike="noStrike" cap="none" normalizeH="0" baseline="0" dirty="0" err="1">
                <a:ln>
                  <a:noFill/>
                </a:ln>
                <a:solidFill>
                  <a:schemeClr val="tx1"/>
                </a:solidFill>
                <a:effectLst/>
                <a:latin typeface="Arial" panose="020B0604020202020204" pitchFamily="34" charset="0"/>
              </a:rPr>
              <a:t>Appwrite</a:t>
            </a:r>
            <a:r>
              <a:rPr kumimoji="0" lang="en-US" altLang="en-US" sz="2000" b="1" i="1" u="sng" strike="noStrike" cap="none" normalizeH="0" baseline="0" dirty="0">
                <a:ln>
                  <a:noFill/>
                </a:ln>
                <a:solidFill>
                  <a:schemeClr val="tx1"/>
                </a:solidFill>
                <a:effectLst/>
                <a:latin typeface="Arial" panose="020B0604020202020204" pitchFamily="34" charset="0"/>
              </a:rPr>
              <a:t> </a:t>
            </a:r>
            <a:r>
              <a:rPr kumimoji="0" lang="en-US" altLang="en-US" sz="2000" b="1" i="1" u="none" strike="noStrike" cap="none" normalizeH="0" baseline="0" dirty="0">
                <a:ln>
                  <a:noFill/>
                </a:ln>
                <a:solidFill>
                  <a:schemeClr val="tx1"/>
                </a:solidFill>
                <a:effectLst/>
                <a:latin typeface="Arial" panose="020B0604020202020204" pitchFamily="34" charset="0"/>
              </a:rPr>
              <a:t>:</a:t>
            </a:r>
            <a:endParaRPr kumimoji="0" lang="en-US" altLang="en-US" sz="2000" b="0" i="1"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150000"/>
              </a:lnSpc>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Ready-to-use APIs for </a:t>
            </a:r>
            <a:r>
              <a:rPr kumimoji="0" lang="en-US" altLang="en-US" sz="2000" i="0" u="none" strike="noStrike" cap="none" normalizeH="0" baseline="0" dirty="0">
                <a:ln>
                  <a:noFill/>
                </a:ln>
                <a:solidFill>
                  <a:schemeClr val="tx1"/>
                </a:solidFill>
                <a:effectLst/>
                <a:latin typeface="Arial" panose="020B0604020202020204" pitchFamily="34" charset="0"/>
              </a:rPr>
              <a:t>Authentication, Storage, and Database</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Scalable and secure – ideal for production-ready apps</a:t>
            </a:r>
          </a:p>
          <a:p>
            <a:pPr lvl="1" eaLnBrk="0" fontAlgn="base" hangingPunct="0">
              <a:spcBef>
                <a:spcPct val="0"/>
              </a:spcBef>
              <a:spcAft>
                <a:spcPct val="0"/>
              </a:spcAft>
            </a:pPr>
            <a:endParaRPr kumimoji="0" lang="en-US" altLang="en-US" sz="2000" b="0" i="1"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1" u="sng" strike="noStrike" cap="none" normalizeH="0" baseline="0" dirty="0">
                <a:ln>
                  <a:noFill/>
                </a:ln>
                <a:solidFill>
                  <a:schemeClr val="tx1"/>
                </a:solidFill>
                <a:effectLst/>
                <a:latin typeface="Arial" panose="020B0604020202020204" pitchFamily="34" charset="0"/>
              </a:rPr>
              <a:t>Combined Benefits </a:t>
            </a:r>
            <a:r>
              <a:rPr kumimoji="0" lang="en-US" altLang="en-US" sz="2000" b="1" i="1" u="none" strike="noStrike" cap="none" normalizeH="0" baseline="0" dirty="0">
                <a:ln>
                  <a:noFill/>
                </a:ln>
                <a:solidFill>
                  <a:schemeClr val="tx1"/>
                </a:solidFill>
                <a:effectLst/>
                <a:latin typeface="Arial" panose="020B0604020202020204" pitchFamily="34" charset="0"/>
              </a:rPr>
              <a:t>:</a:t>
            </a:r>
            <a:endParaRPr kumimoji="0" lang="en-US" altLang="en-US" sz="2000" b="0" i="1" u="none" strike="noStrike" cap="none" normalizeH="0" baseline="0" dirty="0">
              <a:ln>
                <a:noFill/>
              </a:ln>
              <a:solidFill>
                <a:schemeClr val="tx1"/>
              </a:solidFill>
              <a:effectLst/>
              <a:latin typeface="Arial" panose="020B0604020202020204" pitchFamily="34" charset="0"/>
            </a:endParaRPr>
          </a:p>
          <a:p>
            <a:pPr marL="914400" lvl="1" indent="-457200" eaLnBrk="0" fontAlgn="base" hangingPunct="0">
              <a:lnSpc>
                <a:spcPct val="200000"/>
              </a:lnSpc>
              <a:spcBef>
                <a:spcPct val="0"/>
              </a:spcBef>
              <a:spcAft>
                <a:spcPct val="0"/>
              </a:spcAft>
              <a:buFont typeface="+mj-lt"/>
              <a:buAutoNum type="arabicPeriod"/>
            </a:pPr>
            <a:r>
              <a:rPr kumimoji="0" lang="en-US" altLang="en-US" sz="2000" i="0" u="none" strike="noStrike" cap="none" normalizeH="0" baseline="0" dirty="0">
                <a:ln>
                  <a:noFill/>
                </a:ln>
                <a:solidFill>
                  <a:schemeClr val="tx1"/>
                </a:solidFill>
                <a:effectLst/>
                <a:latin typeface="Arial" panose="020B0604020202020204" pitchFamily="34" charset="0"/>
              </a:rPr>
              <a:t>Rapid Development</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Reduces time and effort compared to building a backend from scratch</a:t>
            </a:r>
          </a:p>
          <a:p>
            <a:pPr marL="914400" lvl="1" indent="-4572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Arial" panose="020B0604020202020204" pitchFamily="34" charset="0"/>
              </a:rPr>
              <a:t>Handles backend logic like user sessions, file uploads, and access control</a:t>
            </a:r>
          </a:p>
          <a:p>
            <a:pPr marL="914400" lvl="1" indent="-457200" eaLnBrk="0" fontAlgn="base" hangingPunct="0">
              <a:spcBef>
                <a:spcPct val="0"/>
              </a:spcBef>
              <a:spcAft>
                <a:spcPct val="0"/>
              </a:spcAft>
              <a:buFont typeface="+mj-lt"/>
              <a:buAutoNum type="arabicPeriod"/>
            </a:pPr>
            <a:r>
              <a:rPr kumimoji="0" lang="en-US" altLang="en-US" sz="2000" i="0" u="none" strike="noStrike" cap="none" normalizeH="0" baseline="0" dirty="0">
                <a:ln>
                  <a:noFill/>
                </a:ln>
                <a:solidFill>
                  <a:schemeClr val="tx1"/>
                </a:solidFill>
                <a:effectLst/>
                <a:latin typeface="Arial" panose="020B0604020202020204" pitchFamily="34" charset="0"/>
              </a:rPr>
              <a:t>Reliability</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Ensures secure data handling and smooth performance</a:t>
            </a:r>
          </a:p>
          <a:p>
            <a:pPr marL="914400" lvl="1" indent="-457200" eaLnBrk="0" fontAlgn="base" hangingPunct="0">
              <a:spcBef>
                <a:spcPct val="0"/>
              </a:spcBef>
              <a:spcAft>
                <a:spcPct val="0"/>
              </a:spcAft>
              <a:buFont typeface="+mj-lt"/>
              <a:buAutoNum type="arabicPeriod"/>
            </a:pPr>
            <a:r>
              <a:rPr kumimoji="0" lang="en-US" altLang="en-US" sz="2000" i="0" u="none" strike="noStrike" cap="none" normalizeH="0" baseline="0" dirty="0">
                <a:ln>
                  <a:noFill/>
                </a:ln>
                <a:solidFill>
                  <a:schemeClr val="tx1"/>
                </a:solidFill>
                <a:effectLst/>
                <a:latin typeface="Arial" panose="020B0604020202020204" pitchFamily="34" charset="0"/>
              </a:rPr>
              <a:t>Focus on Frontend</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Allows developers to spend more time on user experience and UI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1479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729363-9DCA-B9EC-0118-16AB619BAE34}"/>
              </a:ext>
            </a:extLst>
          </p:cNvPr>
          <p:cNvSpPr txBox="1"/>
          <p:nvPr/>
        </p:nvSpPr>
        <p:spPr>
          <a:xfrm>
            <a:off x="766916" y="353960"/>
            <a:ext cx="8908026" cy="769441"/>
          </a:xfrm>
          <a:prstGeom prst="rect">
            <a:avLst/>
          </a:prstGeom>
          <a:noFill/>
        </p:spPr>
        <p:txBody>
          <a:bodyPr wrap="square" rtlCol="0">
            <a:spAutoFit/>
          </a:bodyPr>
          <a:lstStyle/>
          <a:p>
            <a:r>
              <a:rPr lang="en-IN" sz="4400" b="1" i="1" u="sng" dirty="0"/>
              <a:t>System Architecture</a:t>
            </a:r>
          </a:p>
        </p:txBody>
      </p:sp>
      <p:sp>
        <p:nvSpPr>
          <p:cNvPr id="3" name="TextBox 2">
            <a:extLst>
              <a:ext uri="{FF2B5EF4-FFF2-40B4-BE49-F238E27FC236}">
                <a16:creationId xmlns:a16="http://schemas.microsoft.com/office/drawing/2014/main" id="{E915217B-9354-1579-DD23-3957D1A7E521}"/>
              </a:ext>
            </a:extLst>
          </p:cNvPr>
          <p:cNvSpPr txBox="1"/>
          <p:nvPr/>
        </p:nvSpPr>
        <p:spPr>
          <a:xfrm>
            <a:off x="766916" y="1397046"/>
            <a:ext cx="1710813" cy="461665"/>
          </a:xfrm>
          <a:prstGeom prst="rect">
            <a:avLst/>
          </a:prstGeom>
          <a:noFill/>
        </p:spPr>
        <p:txBody>
          <a:bodyPr wrap="square" rtlCol="0">
            <a:spAutoFit/>
          </a:bodyPr>
          <a:lstStyle/>
          <a:p>
            <a:r>
              <a:rPr lang="en-IN" sz="2400" i="1" u="sng" dirty="0"/>
              <a:t>Flow</a:t>
            </a:r>
            <a:r>
              <a:rPr lang="en-IN" sz="2400" i="1" dirty="0"/>
              <a:t> :</a:t>
            </a:r>
          </a:p>
        </p:txBody>
      </p:sp>
      <p:sp>
        <p:nvSpPr>
          <p:cNvPr id="4" name="TextBox 3">
            <a:extLst>
              <a:ext uri="{FF2B5EF4-FFF2-40B4-BE49-F238E27FC236}">
                <a16:creationId xmlns:a16="http://schemas.microsoft.com/office/drawing/2014/main" id="{7AF5290E-1AEE-5D6B-D8F3-D15A5AD852CC}"/>
              </a:ext>
            </a:extLst>
          </p:cNvPr>
          <p:cNvSpPr txBox="1"/>
          <p:nvPr/>
        </p:nvSpPr>
        <p:spPr>
          <a:xfrm>
            <a:off x="766916" y="5230121"/>
            <a:ext cx="2998839" cy="461665"/>
          </a:xfrm>
          <a:prstGeom prst="rect">
            <a:avLst/>
          </a:prstGeom>
          <a:noFill/>
        </p:spPr>
        <p:txBody>
          <a:bodyPr wrap="square" rtlCol="0">
            <a:spAutoFit/>
          </a:bodyPr>
          <a:lstStyle/>
          <a:p>
            <a:r>
              <a:rPr lang="en-IN" sz="2400" i="1" u="sng" dirty="0"/>
              <a:t>Key Components </a:t>
            </a:r>
            <a:r>
              <a:rPr lang="en-IN" sz="2400" i="1" dirty="0"/>
              <a:t>: </a:t>
            </a:r>
          </a:p>
        </p:txBody>
      </p:sp>
      <p:sp>
        <p:nvSpPr>
          <p:cNvPr id="5" name="TextBox 4">
            <a:extLst>
              <a:ext uri="{FF2B5EF4-FFF2-40B4-BE49-F238E27FC236}">
                <a16:creationId xmlns:a16="http://schemas.microsoft.com/office/drawing/2014/main" id="{68B1BC1C-A7FA-34AF-4F1D-A36DC0172F12}"/>
              </a:ext>
            </a:extLst>
          </p:cNvPr>
          <p:cNvSpPr txBox="1"/>
          <p:nvPr/>
        </p:nvSpPr>
        <p:spPr>
          <a:xfrm>
            <a:off x="766916" y="5702559"/>
            <a:ext cx="6971071" cy="400110"/>
          </a:xfrm>
          <a:prstGeom prst="rect">
            <a:avLst/>
          </a:prstGeom>
          <a:noFill/>
        </p:spPr>
        <p:txBody>
          <a:bodyPr wrap="square" rtlCol="0">
            <a:spAutoFit/>
          </a:bodyPr>
          <a:lstStyle/>
          <a:p>
            <a:r>
              <a:rPr lang="en-IN" sz="2000" dirty="0"/>
              <a:t>Authentication, Storage Service, File/Folders Collection.</a:t>
            </a:r>
          </a:p>
        </p:txBody>
      </p:sp>
      <p:pic>
        <p:nvPicPr>
          <p:cNvPr id="7" name="Picture 6">
            <a:extLst>
              <a:ext uri="{FF2B5EF4-FFF2-40B4-BE49-F238E27FC236}">
                <a16:creationId xmlns:a16="http://schemas.microsoft.com/office/drawing/2014/main" id="{D99073F4-6196-0E94-F24C-F5A7B5966868}"/>
              </a:ext>
            </a:extLst>
          </p:cNvPr>
          <p:cNvPicPr>
            <a:picLocks noChangeAspect="1"/>
          </p:cNvPicPr>
          <p:nvPr/>
        </p:nvPicPr>
        <p:blipFill>
          <a:blip r:embed="rId2">
            <a:extLst>
              <a:ext uri="{28A0092B-C50C-407E-A947-70E740481C1C}">
                <a14:useLocalDpi xmlns:a14="http://schemas.microsoft.com/office/drawing/2010/main" val="0"/>
              </a:ext>
            </a:extLst>
          </a:blip>
          <a:srcRect l="747" t="24196" r="1006" b="31684"/>
          <a:stretch>
            <a:fillRect/>
          </a:stretch>
        </p:blipFill>
        <p:spPr>
          <a:xfrm>
            <a:off x="1691148" y="1858710"/>
            <a:ext cx="8819536" cy="2909747"/>
          </a:xfrm>
          <a:prstGeom prst="rect">
            <a:avLst/>
          </a:prstGeom>
        </p:spPr>
      </p:pic>
    </p:spTree>
    <p:extLst>
      <p:ext uri="{BB962C8B-B14F-4D97-AF65-F5344CB8AC3E}">
        <p14:creationId xmlns:p14="http://schemas.microsoft.com/office/powerpoint/2010/main" val="821281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A79822-6490-1D7B-6096-B99272E36A15}"/>
              </a:ext>
            </a:extLst>
          </p:cNvPr>
          <p:cNvSpPr txBox="1"/>
          <p:nvPr/>
        </p:nvSpPr>
        <p:spPr>
          <a:xfrm>
            <a:off x="646806" y="622205"/>
            <a:ext cx="6882581" cy="769441"/>
          </a:xfrm>
          <a:prstGeom prst="rect">
            <a:avLst/>
          </a:prstGeom>
          <a:noFill/>
        </p:spPr>
        <p:txBody>
          <a:bodyPr wrap="square" rtlCol="0">
            <a:spAutoFit/>
          </a:bodyPr>
          <a:lstStyle/>
          <a:p>
            <a:r>
              <a:rPr lang="en-IN" sz="4400" b="1" i="1" u="sng" dirty="0"/>
              <a:t>Database &amp; Storage Design</a:t>
            </a:r>
          </a:p>
        </p:txBody>
      </p:sp>
      <p:pic>
        <p:nvPicPr>
          <p:cNvPr id="24" name="Picture 23">
            <a:extLst>
              <a:ext uri="{FF2B5EF4-FFF2-40B4-BE49-F238E27FC236}">
                <a16:creationId xmlns:a16="http://schemas.microsoft.com/office/drawing/2014/main" id="{477B564D-DF6E-105E-2E6B-0056F4FDB8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378" y="1495556"/>
            <a:ext cx="10381524" cy="4603907"/>
          </a:xfrm>
          <a:prstGeom prst="rect">
            <a:avLst/>
          </a:prstGeom>
        </p:spPr>
      </p:pic>
      <p:sp>
        <p:nvSpPr>
          <p:cNvPr id="25" name="TextBox 24">
            <a:extLst>
              <a:ext uri="{FF2B5EF4-FFF2-40B4-BE49-F238E27FC236}">
                <a16:creationId xmlns:a16="http://schemas.microsoft.com/office/drawing/2014/main" id="{C883DEB3-65AC-FC95-FB33-E5F1B1400B5F}"/>
              </a:ext>
            </a:extLst>
          </p:cNvPr>
          <p:cNvSpPr txBox="1"/>
          <p:nvPr/>
        </p:nvSpPr>
        <p:spPr>
          <a:xfrm>
            <a:off x="280378" y="6203373"/>
            <a:ext cx="11388613" cy="430887"/>
          </a:xfrm>
          <a:prstGeom prst="rect">
            <a:avLst/>
          </a:prstGeom>
          <a:noFill/>
        </p:spPr>
        <p:txBody>
          <a:bodyPr wrap="square" rtlCol="0">
            <a:spAutoFit/>
          </a:bodyPr>
          <a:lstStyle/>
          <a:p>
            <a:pPr algn="ctr"/>
            <a:r>
              <a:rPr lang="en-US" sz="2200" i="1" dirty="0"/>
              <a:t>For storage , </a:t>
            </a:r>
            <a:r>
              <a:rPr lang="en-US" sz="2200" i="1" dirty="0" err="1"/>
              <a:t>Appwrite</a:t>
            </a:r>
            <a:r>
              <a:rPr lang="en-US" sz="2200" i="1" dirty="0"/>
              <a:t> bucket has been used which stores the actual files uploaded by the user</a:t>
            </a:r>
            <a:endParaRPr lang="en-IN" sz="2200" i="1" dirty="0"/>
          </a:p>
        </p:txBody>
      </p:sp>
    </p:spTree>
    <p:extLst>
      <p:ext uri="{BB962C8B-B14F-4D97-AF65-F5344CB8AC3E}">
        <p14:creationId xmlns:p14="http://schemas.microsoft.com/office/powerpoint/2010/main" val="1029606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CD535549-B1E3-8135-301C-E4F47197F130}"/>
              </a:ext>
            </a:extLst>
          </p:cNvPr>
          <p:cNvSpPr/>
          <p:nvPr/>
        </p:nvSpPr>
        <p:spPr>
          <a:xfrm>
            <a:off x="6785265" y="5312400"/>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33" name="Rectangle: Rounded Corners 32">
            <a:extLst>
              <a:ext uri="{FF2B5EF4-FFF2-40B4-BE49-F238E27FC236}">
                <a16:creationId xmlns:a16="http://schemas.microsoft.com/office/drawing/2014/main" id="{AAF11854-D062-AA16-49CC-89064743B619}"/>
              </a:ext>
            </a:extLst>
          </p:cNvPr>
          <p:cNvSpPr/>
          <p:nvPr/>
        </p:nvSpPr>
        <p:spPr>
          <a:xfrm>
            <a:off x="6806053" y="3636818"/>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32" name="Rectangle: Rounded Corners 31">
            <a:extLst>
              <a:ext uri="{FF2B5EF4-FFF2-40B4-BE49-F238E27FC236}">
                <a16:creationId xmlns:a16="http://schemas.microsoft.com/office/drawing/2014/main" id="{9A9BABB3-8CC1-07BC-8B21-CFF712D23B7C}"/>
              </a:ext>
            </a:extLst>
          </p:cNvPr>
          <p:cNvSpPr/>
          <p:nvPr/>
        </p:nvSpPr>
        <p:spPr>
          <a:xfrm>
            <a:off x="675392" y="4473189"/>
            <a:ext cx="3906950" cy="140788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29" name="Rectangle: Rounded Corners 28">
            <a:extLst>
              <a:ext uri="{FF2B5EF4-FFF2-40B4-BE49-F238E27FC236}">
                <a16:creationId xmlns:a16="http://schemas.microsoft.com/office/drawing/2014/main" id="{A5872D6D-75F1-17EE-E0BB-AA3333FD2335}"/>
              </a:ext>
            </a:extLst>
          </p:cNvPr>
          <p:cNvSpPr/>
          <p:nvPr/>
        </p:nvSpPr>
        <p:spPr>
          <a:xfrm>
            <a:off x="675392" y="2836718"/>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28" name="Rectangle: Rounded Corners 27">
            <a:extLst>
              <a:ext uri="{FF2B5EF4-FFF2-40B4-BE49-F238E27FC236}">
                <a16:creationId xmlns:a16="http://schemas.microsoft.com/office/drawing/2014/main" id="{4A5708CC-C9F8-4758-0D25-537A2F633659}"/>
              </a:ext>
            </a:extLst>
          </p:cNvPr>
          <p:cNvSpPr/>
          <p:nvPr/>
        </p:nvSpPr>
        <p:spPr>
          <a:xfrm>
            <a:off x="6785265" y="1961236"/>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27" name="Rectangle: Rounded Corners 26">
            <a:extLst>
              <a:ext uri="{FF2B5EF4-FFF2-40B4-BE49-F238E27FC236}">
                <a16:creationId xmlns:a16="http://schemas.microsoft.com/office/drawing/2014/main" id="{DF4B9D55-EC4A-CBC0-ABE8-6475A964028D}"/>
              </a:ext>
            </a:extLst>
          </p:cNvPr>
          <p:cNvSpPr/>
          <p:nvPr/>
        </p:nvSpPr>
        <p:spPr>
          <a:xfrm>
            <a:off x="675417" y="1350818"/>
            <a:ext cx="3906950" cy="1184564"/>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60000"/>
                  <a:lumOff val="40000"/>
                </a:schemeClr>
              </a:solidFill>
            </a:endParaRPr>
          </a:p>
        </p:txBody>
      </p:sp>
      <p:sp>
        <p:nvSpPr>
          <p:cNvPr id="2" name="TextBox 1">
            <a:extLst>
              <a:ext uri="{FF2B5EF4-FFF2-40B4-BE49-F238E27FC236}">
                <a16:creationId xmlns:a16="http://schemas.microsoft.com/office/drawing/2014/main" id="{C1F8BA8D-CA29-504C-B9CB-ED9C9D8DD46E}"/>
              </a:ext>
            </a:extLst>
          </p:cNvPr>
          <p:cNvSpPr txBox="1"/>
          <p:nvPr/>
        </p:nvSpPr>
        <p:spPr>
          <a:xfrm>
            <a:off x="820882" y="426027"/>
            <a:ext cx="5798127" cy="769441"/>
          </a:xfrm>
          <a:prstGeom prst="rect">
            <a:avLst/>
          </a:prstGeom>
          <a:noFill/>
        </p:spPr>
        <p:txBody>
          <a:bodyPr wrap="square" rtlCol="0">
            <a:spAutoFit/>
          </a:bodyPr>
          <a:lstStyle/>
          <a:p>
            <a:r>
              <a:rPr lang="en-US" sz="4400" b="1" i="1" u="sng" dirty="0"/>
              <a:t>Authentication</a:t>
            </a:r>
            <a:endParaRPr lang="en-IN" sz="4400" b="1" i="1" u="sng" dirty="0"/>
          </a:p>
        </p:txBody>
      </p:sp>
      <p:cxnSp>
        <p:nvCxnSpPr>
          <p:cNvPr id="4" name="Straight Connector 3">
            <a:extLst>
              <a:ext uri="{FF2B5EF4-FFF2-40B4-BE49-F238E27FC236}">
                <a16:creationId xmlns:a16="http://schemas.microsoft.com/office/drawing/2014/main" id="{B72EE98C-930F-2240-5401-21FFABD0BB78}"/>
              </a:ext>
            </a:extLst>
          </p:cNvPr>
          <p:cNvCxnSpPr/>
          <p:nvPr/>
        </p:nvCxnSpPr>
        <p:spPr>
          <a:xfrm>
            <a:off x="5725391" y="1350818"/>
            <a:ext cx="0" cy="520584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23EDA40-4433-F296-D061-AA503171F1C1}"/>
              </a:ext>
            </a:extLst>
          </p:cNvPr>
          <p:cNvCxnSpPr>
            <a:cxnSpLocks/>
          </p:cNvCxnSpPr>
          <p:nvPr/>
        </p:nvCxnSpPr>
        <p:spPr>
          <a:xfrm flipH="1">
            <a:off x="4665518" y="1714500"/>
            <a:ext cx="105987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5126B0A-03BD-E868-FB29-FB1F5870C9A4}"/>
              </a:ext>
            </a:extLst>
          </p:cNvPr>
          <p:cNvSpPr txBox="1"/>
          <p:nvPr/>
        </p:nvSpPr>
        <p:spPr>
          <a:xfrm>
            <a:off x="675417" y="1350818"/>
            <a:ext cx="3906967" cy="1015663"/>
          </a:xfrm>
          <a:prstGeom prst="rect">
            <a:avLst/>
          </a:prstGeom>
          <a:noFill/>
        </p:spPr>
        <p:txBody>
          <a:bodyPr wrap="square" rtlCol="0">
            <a:spAutoFit/>
          </a:bodyPr>
          <a:lstStyle/>
          <a:p>
            <a:r>
              <a:rPr lang="en-US" sz="2000" i="1" dirty="0"/>
              <a:t>Used </a:t>
            </a:r>
            <a:r>
              <a:rPr lang="en-US" sz="2000" b="1" i="1" dirty="0"/>
              <a:t>Email OTP (One-Time Password)</a:t>
            </a:r>
            <a:r>
              <a:rPr lang="en-US" sz="2000" i="1" dirty="0"/>
              <a:t> method for verifying and logging in users.</a:t>
            </a:r>
            <a:endParaRPr lang="en-IN" sz="2000" i="1" dirty="0"/>
          </a:p>
        </p:txBody>
      </p:sp>
      <p:cxnSp>
        <p:nvCxnSpPr>
          <p:cNvPr id="10" name="Straight Connector 9">
            <a:extLst>
              <a:ext uri="{FF2B5EF4-FFF2-40B4-BE49-F238E27FC236}">
                <a16:creationId xmlns:a16="http://schemas.microsoft.com/office/drawing/2014/main" id="{0A834F62-BCE3-7394-36B7-7F76BC81C1AE}"/>
              </a:ext>
            </a:extLst>
          </p:cNvPr>
          <p:cNvCxnSpPr/>
          <p:nvPr/>
        </p:nvCxnSpPr>
        <p:spPr>
          <a:xfrm>
            <a:off x="5725391" y="2535382"/>
            <a:ext cx="1018309"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38C488E-0A8D-75D9-D9F3-086D44B75877}"/>
              </a:ext>
            </a:extLst>
          </p:cNvPr>
          <p:cNvSpPr txBox="1"/>
          <p:nvPr/>
        </p:nvSpPr>
        <p:spPr>
          <a:xfrm>
            <a:off x="6806053" y="2071099"/>
            <a:ext cx="4042064" cy="1015663"/>
          </a:xfrm>
          <a:prstGeom prst="rect">
            <a:avLst/>
          </a:prstGeom>
          <a:noFill/>
        </p:spPr>
        <p:txBody>
          <a:bodyPr wrap="square" rtlCol="0">
            <a:spAutoFit/>
          </a:bodyPr>
          <a:lstStyle/>
          <a:p>
            <a:r>
              <a:rPr lang="en-US" sz="2000" i="1" dirty="0"/>
              <a:t>On sign-up, users receive a </a:t>
            </a:r>
            <a:r>
              <a:rPr lang="en-US" sz="2000" b="1" i="1" dirty="0"/>
              <a:t>unique OTP link/code</a:t>
            </a:r>
            <a:r>
              <a:rPr lang="en-US" sz="2000" i="1" dirty="0"/>
              <a:t> on their registered email.</a:t>
            </a:r>
            <a:endParaRPr lang="en-IN" sz="2000" i="1" dirty="0"/>
          </a:p>
        </p:txBody>
      </p:sp>
      <p:cxnSp>
        <p:nvCxnSpPr>
          <p:cNvPr id="15" name="Straight Connector 14">
            <a:extLst>
              <a:ext uri="{FF2B5EF4-FFF2-40B4-BE49-F238E27FC236}">
                <a16:creationId xmlns:a16="http://schemas.microsoft.com/office/drawing/2014/main" id="{71B17984-9ECE-39DE-B088-3EF2A92A392B}"/>
              </a:ext>
            </a:extLst>
          </p:cNvPr>
          <p:cNvCxnSpPr/>
          <p:nvPr/>
        </p:nvCxnSpPr>
        <p:spPr>
          <a:xfrm flipH="1">
            <a:off x="4665518" y="3429000"/>
            <a:ext cx="105987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FA0575F-2DCC-6EFA-C25F-85F805565957}"/>
              </a:ext>
            </a:extLst>
          </p:cNvPr>
          <p:cNvSpPr txBox="1"/>
          <p:nvPr/>
        </p:nvSpPr>
        <p:spPr>
          <a:xfrm>
            <a:off x="737763" y="2945110"/>
            <a:ext cx="3906967" cy="1015663"/>
          </a:xfrm>
          <a:prstGeom prst="rect">
            <a:avLst/>
          </a:prstGeom>
          <a:noFill/>
        </p:spPr>
        <p:txBody>
          <a:bodyPr wrap="square" rtlCol="0">
            <a:spAutoFit/>
          </a:bodyPr>
          <a:lstStyle/>
          <a:p>
            <a:r>
              <a:rPr lang="en-US" sz="2000" i="1" dirty="0" err="1"/>
              <a:t>Appwrite</a:t>
            </a:r>
            <a:r>
              <a:rPr lang="en-US" sz="2000" i="1" dirty="0"/>
              <a:t> automatically handles </a:t>
            </a:r>
            <a:r>
              <a:rPr lang="en-US" sz="2000" b="1" i="1" dirty="0"/>
              <a:t>session creation</a:t>
            </a:r>
            <a:r>
              <a:rPr lang="en-US" sz="2000" i="1" dirty="0"/>
              <a:t> after successful verification.</a:t>
            </a:r>
            <a:endParaRPr lang="en-IN" sz="2000" i="1" dirty="0"/>
          </a:p>
        </p:txBody>
      </p:sp>
      <p:cxnSp>
        <p:nvCxnSpPr>
          <p:cNvPr id="19" name="Straight Connector 18">
            <a:extLst>
              <a:ext uri="{FF2B5EF4-FFF2-40B4-BE49-F238E27FC236}">
                <a16:creationId xmlns:a16="http://schemas.microsoft.com/office/drawing/2014/main" id="{8C873C17-B945-DFFD-E29B-5D57A105A7E2}"/>
              </a:ext>
            </a:extLst>
          </p:cNvPr>
          <p:cNvCxnSpPr/>
          <p:nvPr/>
        </p:nvCxnSpPr>
        <p:spPr>
          <a:xfrm>
            <a:off x="5725391" y="4229100"/>
            <a:ext cx="1018309"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D4B3340-EB1F-6D71-F9DB-587221F10FF7}"/>
              </a:ext>
            </a:extLst>
          </p:cNvPr>
          <p:cNvSpPr txBox="1"/>
          <p:nvPr/>
        </p:nvSpPr>
        <p:spPr>
          <a:xfrm>
            <a:off x="6883972" y="3721268"/>
            <a:ext cx="3751112" cy="1015663"/>
          </a:xfrm>
          <a:prstGeom prst="rect">
            <a:avLst/>
          </a:prstGeom>
          <a:noFill/>
        </p:spPr>
        <p:txBody>
          <a:bodyPr wrap="square" rtlCol="0">
            <a:spAutoFit/>
          </a:bodyPr>
          <a:lstStyle/>
          <a:p>
            <a:r>
              <a:rPr lang="en-US" sz="2000" i="1" dirty="0"/>
              <a:t>Managed user state (login/logout) through </a:t>
            </a:r>
            <a:r>
              <a:rPr lang="en-US" sz="2000" b="1" i="1" dirty="0" err="1"/>
              <a:t>Appwrite</a:t>
            </a:r>
            <a:r>
              <a:rPr lang="en-US" sz="2000" b="1" i="1" dirty="0"/>
              <a:t> SDK</a:t>
            </a:r>
            <a:r>
              <a:rPr lang="en-US" sz="2000" i="1" dirty="0"/>
              <a:t> integrated in React frontend.</a:t>
            </a:r>
            <a:endParaRPr lang="en-IN" sz="2000" i="1" dirty="0"/>
          </a:p>
        </p:txBody>
      </p:sp>
      <p:cxnSp>
        <p:nvCxnSpPr>
          <p:cNvPr id="22" name="Straight Connector 21">
            <a:extLst>
              <a:ext uri="{FF2B5EF4-FFF2-40B4-BE49-F238E27FC236}">
                <a16:creationId xmlns:a16="http://schemas.microsoft.com/office/drawing/2014/main" id="{85358A06-BB2A-049D-FD15-DD5FB48257A3}"/>
              </a:ext>
            </a:extLst>
          </p:cNvPr>
          <p:cNvCxnSpPr/>
          <p:nvPr/>
        </p:nvCxnSpPr>
        <p:spPr>
          <a:xfrm flipH="1">
            <a:off x="4738255" y="5039591"/>
            <a:ext cx="987136"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1A83E7-3B8B-7D0B-B6AD-07381AE43D62}"/>
              </a:ext>
            </a:extLst>
          </p:cNvPr>
          <p:cNvSpPr txBox="1"/>
          <p:nvPr/>
        </p:nvSpPr>
        <p:spPr>
          <a:xfrm>
            <a:off x="987128" y="4515410"/>
            <a:ext cx="3408235" cy="1323439"/>
          </a:xfrm>
          <a:prstGeom prst="rect">
            <a:avLst/>
          </a:prstGeom>
          <a:noFill/>
        </p:spPr>
        <p:txBody>
          <a:bodyPr wrap="square" rtlCol="0">
            <a:spAutoFit/>
          </a:bodyPr>
          <a:lstStyle/>
          <a:p>
            <a:r>
              <a:rPr lang="en-US" sz="2000" i="1" dirty="0"/>
              <a:t>Ensures </a:t>
            </a:r>
            <a:r>
              <a:rPr lang="en-US" sz="2000" b="1" i="1" dirty="0"/>
              <a:t>data privacy and restricted access</a:t>
            </a:r>
            <a:r>
              <a:rPr lang="en-US" sz="2000" i="1" dirty="0"/>
              <a:t> — only authenticated users can view, upload, or manage their files.</a:t>
            </a:r>
            <a:endParaRPr lang="en-IN" sz="2000" i="1" dirty="0"/>
          </a:p>
        </p:txBody>
      </p:sp>
      <p:cxnSp>
        <p:nvCxnSpPr>
          <p:cNvPr id="25" name="Straight Connector 24">
            <a:extLst>
              <a:ext uri="{FF2B5EF4-FFF2-40B4-BE49-F238E27FC236}">
                <a16:creationId xmlns:a16="http://schemas.microsoft.com/office/drawing/2014/main" id="{CA42C9BD-870A-D366-3685-92521ACEC489}"/>
              </a:ext>
            </a:extLst>
          </p:cNvPr>
          <p:cNvCxnSpPr/>
          <p:nvPr/>
        </p:nvCxnSpPr>
        <p:spPr>
          <a:xfrm>
            <a:off x="5725391" y="5964382"/>
            <a:ext cx="1018309"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543C27D-7F5F-9EF0-AE3A-E8DBB86ECA42}"/>
              </a:ext>
            </a:extLst>
          </p:cNvPr>
          <p:cNvSpPr txBox="1"/>
          <p:nvPr/>
        </p:nvSpPr>
        <p:spPr>
          <a:xfrm>
            <a:off x="6806053" y="5396850"/>
            <a:ext cx="3948545" cy="1015663"/>
          </a:xfrm>
          <a:prstGeom prst="rect">
            <a:avLst/>
          </a:prstGeom>
          <a:noFill/>
        </p:spPr>
        <p:txBody>
          <a:bodyPr wrap="square" rtlCol="0">
            <a:spAutoFit/>
          </a:bodyPr>
          <a:lstStyle/>
          <a:p>
            <a:r>
              <a:rPr lang="en-US" sz="2000" i="1" dirty="0"/>
              <a:t>Enhanced user experience with </a:t>
            </a:r>
            <a:r>
              <a:rPr lang="en-US" sz="2000" b="1" i="1" dirty="0"/>
              <a:t>instant feedback</a:t>
            </a:r>
            <a:r>
              <a:rPr lang="en-US" sz="2000" i="1" dirty="0"/>
              <a:t> and </a:t>
            </a:r>
            <a:r>
              <a:rPr lang="en-US" sz="2000" b="1" i="1" dirty="0"/>
              <a:t>error handling</a:t>
            </a:r>
            <a:r>
              <a:rPr lang="en-US" sz="2000" i="1" dirty="0"/>
              <a:t> (invalid OTP, expired session, etc.).</a:t>
            </a:r>
            <a:endParaRPr lang="en-IN" sz="2000" i="1" dirty="0"/>
          </a:p>
        </p:txBody>
      </p:sp>
    </p:spTree>
    <p:extLst>
      <p:ext uri="{BB962C8B-B14F-4D97-AF65-F5344CB8AC3E}">
        <p14:creationId xmlns:p14="http://schemas.microsoft.com/office/powerpoint/2010/main" val="2105621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0C43559C-218B-F88E-AA3E-4012B2859D99}"/>
              </a:ext>
            </a:extLst>
          </p:cNvPr>
          <p:cNvSpPr/>
          <p:nvPr/>
        </p:nvSpPr>
        <p:spPr>
          <a:xfrm>
            <a:off x="862437" y="6315206"/>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50DA20DD-DEE3-8DCB-4F2B-48C4F2631014}"/>
              </a:ext>
            </a:extLst>
          </p:cNvPr>
          <p:cNvSpPr txBox="1"/>
          <p:nvPr/>
        </p:nvSpPr>
        <p:spPr>
          <a:xfrm>
            <a:off x="644237" y="384464"/>
            <a:ext cx="7595754" cy="707886"/>
          </a:xfrm>
          <a:prstGeom prst="rect">
            <a:avLst/>
          </a:prstGeom>
          <a:noFill/>
        </p:spPr>
        <p:txBody>
          <a:bodyPr wrap="square" rtlCol="0">
            <a:spAutoFit/>
          </a:bodyPr>
          <a:lstStyle/>
          <a:p>
            <a:r>
              <a:rPr lang="en-IN" sz="4000" b="1" i="1" u="sng" dirty="0"/>
              <a:t>File and Folder Management</a:t>
            </a:r>
          </a:p>
        </p:txBody>
      </p:sp>
      <p:sp>
        <p:nvSpPr>
          <p:cNvPr id="3" name="Rectangle: Rounded Corners 2">
            <a:extLst>
              <a:ext uri="{FF2B5EF4-FFF2-40B4-BE49-F238E27FC236}">
                <a16:creationId xmlns:a16="http://schemas.microsoft.com/office/drawing/2014/main" id="{D07205DA-34C4-E2E3-1302-655BC8B3DFAF}"/>
              </a:ext>
            </a:extLst>
          </p:cNvPr>
          <p:cNvSpPr/>
          <p:nvPr/>
        </p:nvSpPr>
        <p:spPr>
          <a:xfrm>
            <a:off x="883227" y="1641764"/>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C356D3C-EC02-0A4D-ACA3-23D5103CDB89}"/>
              </a:ext>
            </a:extLst>
          </p:cNvPr>
          <p:cNvSpPr txBox="1"/>
          <p:nvPr/>
        </p:nvSpPr>
        <p:spPr>
          <a:xfrm>
            <a:off x="919595" y="1607780"/>
            <a:ext cx="446809" cy="464871"/>
          </a:xfrm>
          <a:prstGeom prst="rect">
            <a:avLst/>
          </a:prstGeom>
          <a:noFill/>
        </p:spPr>
        <p:txBody>
          <a:bodyPr wrap="square" rtlCol="0">
            <a:spAutoFit/>
          </a:bodyPr>
          <a:lstStyle/>
          <a:p>
            <a:pPr algn="ctr">
              <a:lnSpc>
                <a:spcPct val="150000"/>
              </a:lnSpc>
            </a:pPr>
            <a:r>
              <a:rPr lang="en-IN" dirty="0"/>
              <a:t>1</a:t>
            </a:r>
          </a:p>
        </p:txBody>
      </p:sp>
      <p:sp>
        <p:nvSpPr>
          <p:cNvPr id="5" name="TextBox 4">
            <a:extLst>
              <a:ext uri="{FF2B5EF4-FFF2-40B4-BE49-F238E27FC236}">
                <a16:creationId xmlns:a16="http://schemas.microsoft.com/office/drawing/2014/main" id="{B5BEABD6-341F-C2AE-7DA5-2D5F64BE725D}"/>
              </a:ext>
            </a:extLst>
          </p:cNvPr>
          <p:cNvSpPr txBox="1"/>
          <p:nvPr/>
        </p:nvSpPr>
        <p:spPr>
          <a:xfrm>
            <a:off x="1600200" y="1690908"/>
            <a:ext cx="4156363" cy="430887"/>
          </a:xfrm>
          <a:prstGeom prst="rect">
            <a:avLst/>
          </a:prstGeom>
          <a:noFill/>
        </p:spPr>
        <p:txBody>
          <a:bodyPr wrap="square" rtlCol="0">
            <a:spAutoFit/>
          </a:bodyPr>
          <a:lstStyle/>
          <a:p>
            <a:r>
              <a:rPr lang="en-US" sz="2200" i="1" dirty="0"/>
              <a:t>Upload any type of file</a:t>
            </a:r>
            <a:r>
              <a:rPr lang="en-US" sz="2200" dirty="0"/>
              <a:t>.</a:t>
            </a:r>
            <a:endParaRPr lang="en-IN" sz="2200" dirty="0"/>
          </a:p>
        </p:txBody>
      </p:sp>
      <p:sp>
        <p:nvSpPr>
          <p:cNvPr id="6" name="Rectangle: Rounded Corners 5">
            <a:extLst>
              <a:ext uri="{FF2B5EF4-FFF2-40B4-BE49-F238E27FC236}">
                <a16:creationId xmlns:a16="http://schemas.microsoft.com/office/drawing/2014/main" id="{2EBB9FDC-9C98-6734-885F-4B21FC1C1659}"/>
              </a:ext>
            </a:extLst>
          </p:cNvPr>
          <p:cNvSpPr/>
          <p:nvPr/>
        </p:nvSpPr>
        <p:spPr>
          <a:xfrm>
            <a:off x="883226" y="2588081"/>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287A9019-AED1-F8BE-1976-F926717E4537}"/>
              </a:ext>
            </a:extLst>
          </p:cNvPr>
          <p:cNvSpPr/>
          <p:nvPr/>
        </p:nvSpPr>
        <p:spPr>
          <a:xfrm>
            <a:off x="878029" y="3531398"/>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2CFCD1B-CA9C-732B-C3F2-6B39289AD7B3}"/>
              </a:ext>
            </a:extLst>
          </p:cNvPr>
          <p:cNvSpPr/>
          <p:nvPr/>
        </p:nvSpPr>
        <p:spPr>
          <a:xfrm>
            <a:off x="878028" y="4474715"/>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3D028E87-159F-EF2C-A7AF-228F8F774A6A}"/>
              </a:ext>
            </a:extLst>
          </p:cNvPr>
          <p:cNvSpPr/>
          <p:nvPr/>
        </p:nvSpPr>
        <p:spPr>
          <a:xfrm>
            <a:off x="878028" y="5418032"/>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88D1A323-6C05-B7DA-8A72-F364B034B027}"/>
              </a:ext>
            </a:extLst>
          </p:cNvPr>
          <p:cNvSpPr txBox="1"/>
          <p:nvPr/>
        </p:nvSpPr>
        <p:spPr>
          <a:xfrm>
            <a:off x="914396" y="2566764"/>
            <a:ext cx="446809" cy="464871"/>
          </a:xfrm>
          <a:prstGeom prst="rect">
            <a:avLst/>
          </a:prstGeom>
          <a:noFill/>
        </p:spPr>
        <p:txBody>
          <a:bodyPr wrap="square" rtlCol="0">
            <a:spAutoFit/>
          </a:bodyPr>
          <a:lstStyle/>
          <a:p>
            <a:pPr algn="ctr">
              <a:lnSpc>
                <a:spcPct val="150000"/>
              </a:lnSpc>
            </a:pPr>
            <a:r>
              <a:rPr lang="en-IN" dirty="0"/>
              <a:t>2</a:t>
            </a:r>
          </a:p>
        </p:txBody>
      </p:sp>
      <p:sp>
        <p:nvSpPr>
          <p:cNvPr id="11" name="TextBox 10">
            <a:extLst>
              <a:ext uri="{FF2B5EF4-FFF2-40B4-BE49-F238E27FC236}">
                <a16:creationId xmlns:a16="http://schemas.microsoft.com/office/drawing/2014/main" id="{778F98F4-C5F8-F882-DB07-8EF04A15EF47}"/>
              </a:ext>
            </a:extLst>
          </p:cNvPr>
          <p:cNvSpPr txBox="1"/>
          <p:nvPr/>
        </p:nvSpPr>
        <p:spPr>
          <a:xfrm>
            <a:off x="898806" y="3485256"/>
            <a:ext cx="446809" cy="464871"/>
          </a:xfrm>
          <a:prstGeom prst="rect">
            <a:avLst/>
          </a:prstGeom>
          <a:noFill/>
        </p:spPr>
        <p:txBody>
          <a:bodyPr wrap="square" rtlCol="0">
            <a:spAutoFit/>
          </a:bodyPr>
          <a:lstStyle/>
          <a:p>
            <a:pPr algn="ctr">
              <a:lnSpc>
                <a:spcPct val="150000"/>
              </a:lnSpc>
            </a:pPr>
            <a:r>
              <a:rPr lang="en-IN" dirty="0"/>
              <a:t>3</a:t>
            </a:r>
          </a:p>
        </p:txBody>
      </p:sp>
      <p:sp>
        <p:nvSpPr>
          <p:cNvPr id="12" name="TextBox 11">
            <a:extLst>
              <a:ext uri="{FF2B5EF4-FFF2-40B4-BE49-F238E27FC236}">
                <a16:creationId xmlns:a16="http://schemas.microsoft.com/office/drawing/2014/main" id="{D1CAC3C0-26E7-2BC5-271F-3AFC54176D8B}"/>
              </a:ext>
            </a:extLst>
          </p:cNvPr>
          <p:cNvSpPr txBox="1"/>
          <p:nvPr/>
        </p:nvSpPr>
        <p:spPr>
          <a:xfrm>
            <a:off x="898805" y="4428573"/>
            <a:ext cx="446809" cy="464871"/>
          </a:xfrm>
          <a:prstGeom prst="rect">
            <a:avLst/>
          </a:prstGeom>
          <a:noFill/>
        </p:spPr>
        <p:txBody>
          <a:bodyPr wrap="square" rtlCol="0">
            <a:spAutoFit/>
          </a:bodyPr>
          <a:lstStyle/>
          <a:p>
            <a:pPr algn="ctr">
              <a:lnSpc>
                <a:spcPct val="150000"/>
              </a:lnSpc>
            </a:pPr>
            <a:r>
              <a:rPr lang="en-IN" dirty="0"/>
              <a:t>4</a:t>
            </a:r>
          </a:p>
        </p:txBody>
      </p:sp>
      <p:sp>
        <p:nvSpPr>
          <p:cNvPr id="13" name="TextBox 12">
            <a:extLst>
              <a:ext uri="{FF2B5EF4-FFF2-40B4-BE49-F238E27FC236}">
                <a16:creationId xmlns:a16="http://schemas.microsoft.com/office/drawing/2014/main" id="{AE8C9DCB-41DB-C146-31FD-19A71D2F8941}"/>
              </a:ext>
            </a:extLst>
          </p:cNvPr>
          <p:cNvSpPr txBox="1"/>
          <p:nvPr/>
        </p:nvSpPr>
        <p:spPr>
          <a:xfrm>
            <a:off x="891012" y="5344227"/>
            <a:ext cx="446809" cy="464871"/>
          </a:xfrm>
          <a:prstGeom prst="rect">
            <a:avLst/>
          </a:prstGeom>
          <a:noFill/>
        </p:spPr>
        <p:txBody>
          <a:bodyPr wrap="square" rtlCol="0">
            <a:spAutoFit/>
          </a:bodyPr>
          <a:lstStyle/>
          <a:p>
            <a:pPr algn="ctr">
              <a:lnSpc>
                <a:spcPct val="150000"/>
              </a:lnSpc>
            </a:pPr>
            <a:r>
              <a:rPr lang="en-IN" dirty="0"/>
              <a:t>5</a:t>
            </a:r>
          </a:p>
        </p:txBody>
      </p:sp>
      <p:sp>
        <p:nvSpPr>
          <p:cNvPr id="15" name="TextBox 14">
            <a:extLst>
              <a:ext uri="{FF2B5EF4-FFF2-40B4-BE49-F238E27FC236}">
                <a16:creationId xmlns:a16="http://schemas.microsoft.com/office/drawing/2014/main" id="{B6C455E6-D0E6-0222-04A3-8CBB0F8AACBC}"/>
              </a:ext>
            </a:extLst>
          </p:cNvPr>
          <p:cNvSpPr txBox="1"/>
          <p:nvPr/>
        </p:nvSpPr>
        <p:spPr>
          <a:xfrm>
            <a:off x="1600200" y="2588081"/>
            <a:ext cx="3719945" cy="430887"/>
          </a:xfrm>
          <a:prstGeom prst="rect">
            <a:avLst/>
          </a:prstGeom>
          <a:noFill/>
        </p:spPr>
        <p:txBody>
          <a:bodyPr wrap="square" rtlCol="0">
            <a:spAutoFit/>
          </a:bodyPr>
          <a:lstStyle/>
          <a:p>
            <a:r>
              <a:rPr lang="en-IN" sz="2200" i="1" dirty="0"/>
              <a:t>View and download files.</a:t>
            </a:r>
          </a:p>
        </p:txBody>
      </p:sp>
      <p:sp>
        <p:nvSpPr>
          <p:cNvPr id="16" name="TextBox 15">
            <a:extLst>
              <a:ext uri="{FF2B5EF4-FFF2-40B4-BE49-F238E27FC236}">
                <a16:creationId xmlns:a16="http://schemas.microsoft.com/office/drawing/2014/main" id="{C22C40F1-F9A6-27B5-5A40-1FDD5811B3D1}"/>
              </a:ext>
            </a:extLst>
          </p:cNvPr>
          <p:cNvSpPr txBox="1"/>
          <p:nvPr/>
        </p:nvSpPr>
        <p:spPr>
          <a:xfrm>
            <a:off x="1600200" y="3548389"/>
            <a:ext cx="4696691" cy="430887"/>
          </a:xfrm>
          <a:prstGeom prst="rect">
            <a:avLst/>
          </a:prstGeom>
          <a:noFill/>
        </p:spPr>
        <p:txBody>
          <a:bodyPr wrap="square" rtlCol="0">
            <a:spAutoFit/>
          </a:bodyPr>
          <a:lstStyle/>
          <a:p>
            <a:r>
              <a:rPr lang="en-US" sz="2200" i="1" dirty="0"/>
              <a:t>Delete files (moved to Bin).</a:t>
            </a:r>
            <a:endParaRPr lang="en-IN" sz="2200" i="1" dirty="0"/>
          </a:p>
        </p:txBody>
      </p:sp>
      <p:sp>
        <p:nvSpPr>
          <p:cNvPr id="17" name="TextBox 16">
            <a:extLst>
              <a:ext uri="{FF2B5EF4-FFF2-40B4-BE49-F238E27FC236}">
                <a16:creationId xmlns:a16="http://schemas.microsoft.com/office/drawing/2014/main" id="{9E03AA97-3F86-1491-4457-06DE38B8AE53}"/>
              </a:ext>
            </a:extLst>
          </p:cNvPr>
          <p:cNvSpPr txBox="1"/>
          <p:nvPr/>
        </p:nvSpPr>
        <p:spPr>
          <a:xfrm>
            <a:off x="1600200" y="4491706"/>
            <a:ext cx="4998027" cy="430887"/>
          </a:xfrm>
          <a:prstGeom prst="rect">
            <a:avLst/>
          </a:prstGeom>
          <a:noFill/>
        </p:spPr>
        <p:txBody>
          <a:bodyPr wrap="square" rtlCol="0">
            <a:spAutoFit/>
          </a:bodyPr>
          <a:lstStyle/>
          <a:p>
            <a:r>
              <a:rPr lang="en-IN" sz="2200" i="1" dirty="0"/>
              <a:t>Mark (star) the important files</a:t>
            </a:r>
          </a:p>
        </p:txBody>
      </p:sp>
      <p:sp>
        <p:nvSpPr>
          <p:cNvPr id="18" name="TextBox 17">
            <a:extLst>
              <a:ext uri="{FF2B5EF4-FFF2-40B4-BE49-F238E27FC236}">
                <a16:creationId xmlns:a16="http://schemas.microsoft.com/office/drawing/2014/main" id="{5581E800-158E-7290-6F7A-FF512F8AAE30}"/>
              </a:ext>
            </a:extLst>
          </p:cNvPr>
          <p:cNvSpPr txBox="1"/>
          <p:nvPr/>
        </p:nvSpPr>
        <p:spPr>
          <a:xfrm>
            <a:off x="1600200" y="5433465"/>
            <a:ext cx="5351318" cy="430887"/>
          </a:xfrm>
          <a:prstGeom prst="rect">
            <a:avLst/>
          </a:prstGeom>
          <a:noFill/>
        </p:spPr>
        <p:txBody>
          <a:bodyPr wrap="square" rtlCol="0">
            <a:spAutoFit/>
          </a:bodyPr>
          <a:lstStyle/>
          <a:p>
            <a:r>
              <a:rPr lang="en-IN" sz="2200" i="1" dirty="0"/>
              <a:t>Rename files and folders</a:t>
            </a:r>
          </a:p>
        </p:txBody>
      </p:sp>
      <p:sp>
        <p:nvSpPr>
          <p:cNvPr id="19" name="TextBox 18">
            <a:extLst>
              <a:ext uri="{FF2B5EF4-FFF2-40B4-BE49-F238E27FC236}">
                <a16:creationId xmlns:a16="http://schemas.microsoft.com/office/drawing/2014/main" id="{DCA5B8BC-FB5E-CC96-5AA3-F085ECF790C6}"/>
              </a:ext>
            </a:extLst>
          </p:cNvPr>
          <p:cNvSpPr txBox="1"/>
          <p:nvPr/>
        </p:nvSpPr>
        <p:spPr>
          <a:xfrm>
            <a:off x="1600200" y="6303048"/>
            <a:ext cx="6151418" cy="430887"/>
          </a:xfrm>
          <a:prstGeom prst="rect">
            <a:avLst/>
          </a:prstGeom>
          <a:noFill/>
        </p:spPr>
        <p:txBody>
          <a:bodyPr wrap="square" rtlCol="0">
            <a:spAutoFit/>
          </a:bodyPr>
          <a:lstStyle/>
          <a:p>
            <a:r>
              <a:rPr lang="en-US" sz="2200" i="1" dirty="0"/>
              <a:t>Real-time update of file list after upload/delete.</a:t>
            </a:r>
            <a:endParaRPr lang="en-IN" sz="2200" i="1" dirty="0"/>
          </a:p>
        </p:txBody>
      </p:sp>
      <p:sp>
        <p:nvSpPr>
          <p:cNvPr id="20" name="TextBox 19">
            <a:extLst>
              <a:ext uri="{FF2B5EF4-FFF2-40B4-BE49-F238E27FC236}">
                <a16:creationId xmlns:a16="http://schemas.microsoft.com/office/drawing/2014/main" id="{067C63CB-C398-8017-6F60-69B55E80E77B}"/>
              </a:ext>
            </a:extLst>
          </p:cNvPr>
          <p:cNvSpPr txBox="1"/>
          <p:nvPr/>
        </p:nvSpPr>
        <p:spPr>
          <a:xfrm>
            <a:off x="898805" y="6269064"/>
            <a:ext cx="446809" cy="464871"/>
          </a:xfrm>
          <a:prstGeom prst="rect">
            <a:avLst/>
          </a:prstGeom>
          <a:noFill/>
        </p:spPr>
        <p:txBody>
          <a:bodyPr wrap="square" rtlCol="0">
            <a:spAutoFit/>
          </a:bodyPr>
          <a:lstStyle/>
          <a:p>
            <a:pPr algn="ctr">
              <a:lnSpc>
                <a:spcPct val="150000"/>
              </a:lnSpc>
            </a:pPr>
            <a:r>
              <a:rPr lang="en-IN" dirty="0"/>
              <a:t>6</a:t>
            </a:r>
          </a:p>
        </p:txBody>
      </p:sp>
      <p:pic>
        <p:nvPicPr>
          <p:cNvPr id="2050" name="Picture 2" descr="File management - Free files and ...">
            <a:extLst>
              <a:ext uri="{FF2B5EF4-FFF2-40B4-BE49-F238E27FC236}">
                <a16:creationId xmlns:a16="http://schemas.microsoft.com/office/drawing/2014/main" id="{E1E26842-C965-88BE-3779-E4ECE40E9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2002" y="1874199"/>
            <a:ext cx="3086442" cy="3086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9052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4D28DD-4530-C0C2-5992-4DA1E8BFC712}"/>
              </a:ext>
            </a:extLst>
          </p:cNvPr>
          <p:cNvSpPr txBox="1"/>
          <p:nvPr/>
        </p:nvSpPr>
        <p:spPr>
          <a:xfrm>
            <a:off x="768928" y="384464"/>
            <a:ext cx="6130637" cy="707886"/>
          </a:xfrm>
          <a:prstGeom prst="rect">
            <a:avLst/>
          </a:prstGeom>
          <a:noFill/>
        </p:spPr>
        <p:txBody>
          <a:bodyPr wrap="square" rtlCol="0">
            <a:spAutoFit/>
          </a:bodyPr>
          <a:lstStyle/>
          <a:p>
            <a:r>
              <a:rPr lang="en-IN" sz="4000" b="1" i="1" u="sng" dirty="0"/>
              <a:t>Sharing and Recent section</a:t>
            </a:r>
          </a:p>
        </p:txBody>
      </p:sp>
      <p:sp>
        <p:nvSpPr>
          <p:cNvPr id="3" name="TextBox 2">
            <a:extLst>
              <a:ext uri="{FF2B5EF4-FFF2-40B4-BE49-F238E27FC236}">
                <a16:creationId xmlns:a16="http://schemas.microsoft.com/office/drawing/2014/main" id="{3CB56F4A-8976-7418-EC67-E919013CE7B4}"/>
              </a:ext>
            </a:extLst>
          </p:cNvPr>
          <p:cNvSpPr txBox="1"/>
          <p:nvPr/>
        </p:nvSpPr>
        <p:spPr>
          <a:xfrm>
            <a:off x="1018309" y="1383967"/>
            <a:ext cx="4894118" cy="553998"/>
          </a:xfrm>
          <a:prstGeom prst="rect">
            <a:avLst/>
          </a:prstGeom>
          <a:noFill/>
        </p:spPr>
        <p:txBody>
          <a:bodyPr wrap="square" rtlCol="0">
            <a:spAutoFit/>
          </a:bodyPr>
          <a:lstStyle/>
          <a:p>
            <a:r>
              <a:rPr lang="en-IN" sz="3000" i="1" u="sng" dirty="0"/>
              <a:t>Shared With Me :</a:t>
            </a:r>
          </a:p>
        </p:txBody>
      </p:sp>
      <p:sp>
        <p:nvSpPr>
          <p:cNvPr id="4" name="TextBox 3">
            <a:extLst>
              <a:ext uri="{FF2B5EF4-FFF2-40B4-BE49-F238E27FC236}">
                <a16:creationId xmlns:a16="http://schemas.microsoft.com/office/drawing/2014/main" id="{479E4642-7AEA-EA4C-472E-87430F25DF39}"/>
              </a:ext>
            </a:extLst>
          </p:cNvPr>
          <p:cNvSpPr txBox="1"/>
          <p:nvPr/>
        </p:nvSpPr>
        <p:spPr>
          <a:xfrm>
            <a:off x="1132609" y="1914454"/>
            <a:ext cx="7096991" cy="1785104"/>
          </a:xfrm>
          <a:prstGeom prst="rect">
            <a:avLst/>
          </a:prstGeom>
          <a:noFill/>
        </p:spPr>
        <p:txBody>
          <a:bodyPr wrap="square" rtlCol="0">
            <a:spAutoFit/>
          </a:bodyPr>
          <a:lstStyle/>
          <a:p>
            <a:r>
              <a:rPr lang="en-IN" sz="2200" dirty="0"/>
              <a:t>In this section, the files shared by other with you are displayed and there is a separate copy of the file for you than the one possessed by its actual owner. One can also share file with others by granting access to the files for specific emails</a:t>
            </a:r>
          </a:p>
        </p:txBody>
      </p:sp>
      <p:sp>
        <p:nvSpPr>
          <p:cNvPr id="5" name="TextBox 4">
            <a:extLst>
              <a:ext uri="{FF2B5EF4-FFF2-40B4-BE49-F238E27FC236}">
                <a16:creationId xmlns:a16="http://schemas.microsoft.com/office/drawing/2014/main" id="{A3B6697A-E7D3-B578-54F5-1972E2E059A6}"/>
              </a:ext>
            </a:extLst>
          </p:cNvPr>
          <p:cNvSpPr txBox="1"/>
          <p:nvPr/>
        </p:nvSpPr>
        <p:spPr>
          <a:xfrm>
            <a:off x="5465617" y="4027483"/>
            <a:ext cx="3439391" cy="553998"/>
          </a:xfrm>
          <a:prstGeom prst="rect">
            <a:avLst/>
          </a:prstGeom>
          <a:noFill/>
        </p:spPr>
        <p:txBody>
          <a:bodyPr wrap="square" rtlCol="0">
            <a:spAutoFit/>
          </a:bodyPr>
          <a:lstStyle/>
          <a:p>
            <a:r>
              <a:rPr lang="en-IN" sz="3000" i="1" u="sng" dirty="0"/>
              <a:t>Recent :</a:t>
            </a:r>
          </a:p>
        </p:txBody>
      </p:sp>
      <p:sp>
        <p:nvSpPr>
          <p:cNvPr id="6" name="TextBox 5">
            <a:extLst>
              <a:ext uri="{FF2B5EF4-FFF2-40B4-BE49-F238E27FC236}">
                <a16:creationId xmlns:a16="http://schemas.microsoft.com/office/drawing/2014/main" id="{DD35E030-CF87-7E89-D5A9-1EFCEEA19EC9}"/>
              </a:ext>
            </a:extLst>
          </p:cNvPr>
          <p:cNvSpPr txBox="1"/>
          <p:nvPr/>
        </p:nvSpPr>
        <p:spPr>
          <a:xfrm>
            <a:off x="5602431" y="4581481"/>
            <a:ext cx="5538355" cy="1785104"/>
          </a:xfrm>
          <a:prstGeom prst="rect">
            <a:avLst/>
          </a:prstGeom>
          <a:noFill/>
        </p:spPr>
        <p:txBody>
          <a:bodyPr wrap="square" rtlCol="0">
            <a:spAutoFit/>
          </a:bodyPr>
          <a:lstStyle/>
          <a:p>
            <a:r>
              <a:rPr lang="en-IN" sz="2200" dirty="0"/>
              <a:t>This section lists the files in the order of their usage. If any file is viewed or updated its </a:t>
            </a:r>
            <a:r>
              <a:rPr lang="en-IN" sz="2200" dirty="0" err="1"/>
              <a:t>lastAccessed</a:t>
            </a:r>
            <a:r>
              <a:rPr lang="en-IN" sz="2200" dirty="0"/>
              <a:t> Time is updated to current time and therefore it appears  on the top in the recent section </a:t>
            </a:r>
          </a:p>
        </p:txBody>
      </p:sp>
      <p:pic>
        <p:nvPicPr>
          <p:cNvPr id="7" name="Picture 6">
            <a:extLst>
              <a:ext uri="{FF2B5EF4-FFF2-40B4-BE49-F238E27FC236}">
                <a16:creationId xmlns:a16="http://schemas.microsoft.com/office/drawing/2014/main" id="{DAD591AC-12DC-465A-C85E-D57BC5307F2B}"/>
              </a:ext>
            </a:extLst>
          </p:cNvPr>
          <p:cNvPicPr>
            <a:picLocks noChangeAspect="1"/>
          </p:cNvPicPr>
          <p:nvPr/>
        </p:nvPicPr>
        <p:blipFill>
          <a:blip r:embed="rId2"/>
          <a:stretch>
            <a:fillRect/>
          </a:stretch>
        </p:blipFill>
        <p:spPr>
          <a:xfrm>
            <a:off x="8371609" y="1320977"/>
            <a:ext cx="2604654" cy="2604654"/>
          </a:xfrm>
          <a:prstGeom prst="rect">
            <a:avLst/>
          </a:prstGeom>
        </p:spPr>
      </p:pic>
      <p:pic>
        <p:nvPicPr>
          <p:cNvPr id="8" name="Picture 7">
            <a:extLst>
              <a:ext uri="{FF2B5EF4-FFF2-40B4-BE49-F238E27FC236}">
                <a16:creationId xmlns:a16="http://schemas.microsoft.com/office/drawing/2014/main" id="{1A1ED543-70E1-2E9B-45EE-E9DCAADB2E71}"/>
              </a:ext>
            </a:extLst>
          </p:cNvPr>
          <p:cNvPicPr>
            <a:picLocks noChangeAspect="1"/>
          </p:cNvPicPr>
          <p:nvPr/>
        </p:nvPicPr>
        <p:blipFill>
          <a:blip r:embed="rId3"/>
          <a:stretch>
            <a:fillRect/>
          </a:stretch>
        </p:blipFill>
        <p:spPr>
          <a:xfrm>
            <a:off x="1789402" y="3997220"/>
            <a:ext cx="2585171" cy="2585171"/>
          </a:xfrm>
          <a:prstGeom prst="rect">
            <a:avLst/>
          </a:prstGeom>
        </p:spPr>
      </p:pic>
    </p:spTree>
    <p:extLst>
      <p:ext uri="{BB962C8B-B14F-4D97-AF65-F5344CB8AC3E}">
        <p14:creationId xmlns:p14="http://schemas.microsoft.com/office/powerpoint/2010/main" val="4002918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50A72719-FBA1-8208-B6BA-00E9DFC8314A}"/>
              </a:ext>
            </a:extLst>
          </p:cNvPr>
          <p:cNvSpPr/>
          <p:nvPr/>
        </p:nvSpPr>
        <p:spPr>
          <a:xfrm>
            <a:off x="1096241" y="4609868"/>
            <a:ext cx="5226628" cy="103909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40000"/>
                  <a:lumOff val="60000"/>
                </a:schemeClr>
              </a:solidFill>
            </a:endParaRPr>
          </a:p>
        </p:txBody>
      </p:sp>
      <p:sp>
        <p:nvSpPr>
          <p:cNvPr id="8" name="Rectangle: Rounded Corners 7">
            <a:extLst>
              <a:ext uri="{FF2B5EF4-FFF2-40B4-BE49-F238E27FC236}">
                <a16:creationId xmlns:a16="http://schemas.microsoft.com/office/drawing/2014/main" id="{C0831115-C201-6349-2847-D26A1273BCDE}"/>
              </a:ext>
            </a:extLst>
          </p:cNvPr>
          <p:cNvSpPr/>
          <p:nvPr/>
        </p:nvSpPr>
        <p:spPr>
          <a:xfrm>
            <a:off x="1059873" y="3038609"/>
            <a:ext cx="5226628" cy="103909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40000"/>
                  <a:lumOff val="60000"/>
                </a:schemeClr>
              </a:solidFill>
            </a:endParaRPr>
          </a:p>
        </p:txBody>
      </p:sp>
      <p:sp>
        <p:nvSpPr>
          <p:cNvPr id="7" name="Rectangle: Rounded Corners 6">
            <a:extLst>
              <a:ext uri="{FF2B5EF4-FFF2-40B4-BE49-F238E27FC236}">
                <a16:creationId xmlns:a16="http://schemas.microsoft.com/office/drawing/2014/main" id="{86D6AE92-4450-1A48-9A0F-1CD6C93DB328}"/>
              </a:ext>
            </a:extLst>
          </p:cNvPr>
          <p:cNvSpPr/>
          <p:nvPr/>
        </p:nvSpPr>
        <p:spPr>
          <a:xfrm>
            <a:off x="1059873" y="1600200"/>
            <a:ext cx="5226628" cy="103909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2">
                  <a:lumMod val="40000"/>
                  <a:lumOff val="60000"/>
                </a:schemeClr>
              </a:solidFill>
            </a:endParaRPr>
          </a:p>
        </p:txBody>
      </p:sp>
      <p:sp>
        <p:nvSpPr>
          <p:cNvPr id="2" name="TextBox 1">
            <a:extLst>
              <a:ext uri="{FF2B5EF4-FFF2-40B4-BE49-F238E27FC236}">
                <a16:creationId xmlns:a16="http://schemas.microsoft.com/office/drawing/2014/main" id="{A7401BBF-327F-228F-896E-4DFDA67FEBCF}"/>
              </a:ext>
            </a:extLst>
          </p:cNvPr>
          <p:cNvSpPr txBox="1"/>
          <p:nvPr/>
        </p:nvSpPr>
        <p:spPr>
          <a:xfrm>
            <a:off x="883228" y="613063"/>
            <a:ext cx="2826327" cy="707886"/>
          </a:xfrm>
          <a:prstGeom prst="rect">
            <a:avLst/>
          </a:prstGeom>
          <a:noFill/>
        </p:spPr>
        <p:txBody>
          <a:bodyPr wrap="square" rtlCol="0">
            <a:spAutoFit/>
          </a:bodyPr>
          <a:lstStyle/>
          <a:p>
            <a:r>
              <a:rPr lang="en-IN" sz="4000" b="1" i="1" u="sng" dirty="0"/>
              <a:t>BIN</a:t>
            </a:r>
          </a:p>
        </p:txBody>
      </p:sp>
      <p:sp>
        <p:nvSpPr>
          <p:cNvPr id="3" name="TextBox 2">
            <a:extLst>
              <a:ext uri="{FF2B5EF4-FFF2-40B4-BE49-F238E27FC236}">
                <a16:creationId xmlns:a16="http://schemas.microsoft.com/office/drawing/2014/main" id="{0BBEA9BF-FA51-6F11-06BE-0FE43933F059}"/>
              </a:ext>
            </a:extLst>
          </p:cNvPr>
          <p:cNvSpPr txBox="1"/>
          <p:nvPr/>
        </p:nvSpPr>
        <p:spPr>
          <a:xfrm>
            <a:off x="1361209" y="1756064"/>
            <a:ext cx="4135582" cy="461665"/>
          </a:xfrm>
          <a:prstGeom prst="rect">
            <a:avLst/>
          </a:prstGeom>
          <a:noFill/>
        </p:spPr>
        <p:txBody>
          <a:bodyPr wrap="square" rtlCol="0">
            <a:spAutoFit/>
          </a:bodyPr>
          <a:lstStyle/>
          <a:p>
            <a:pPr marL="342900" indent="-342900">
              <a:buFont typeface="Wingdings" panose="05000000000000000000" pitchFamily="2" charset="2"/>
              <a:buChar char="q"/>
            </a:pPr>
            <a:r>
              <a:rPr lang="en-IN" sz="2400" i="1" dirty="0"/>
              <a:t>Deleted files moved to bin</a:t>
            </a:r>
          </a:p>
        </p:txBody>
      </p:sp>
      <p:sp>
        <p:nvSpPr>
          <p:cNvPr id="4" name="TextBox 3">
            <a:extLst>
              <a:ext uri="{FF2B5EF4-FFF2-40B4-BE49-F238E27FC236}">
                <a16:creationId xmlns:a16="http://schemas.microsoft.com/office/drawing/2014/main" id="{C43FA8A0-1472-487A-797E-F96B03DA0AFB}"/>
              </a:ext>
            </a:extLst>
          </p:cNvPr>
          <p:cNvSpPr txBox="1"/>
          <p:nvPr/>
        </p:nvSpPr>
        <p:spPr>
          <a:xfrm>
            <a:off x="1361209" y="3142657"/>
            <a:ext cx="4925292" cy="830997"/>
          </a:xfrm>
          <a:prstGeom prst="rect">
            <a:avLst/>
          </a:prstGeom>
          <a:noFill/>
        </p:spPr>
        <p:txBody>
          <a:bodyPr wrap="square" rtlCol="0">
            <a:spAutoFit/>
          </a:bodyPr>
          <a:lstStyle/>
          <a:p>
            <a:pPr marL="342900" indent="-342900">
              <a:buFont typeface="Wingdings" panose="05000000000000000000" pitchFamily="2" charset="2"/>
              <a:buChar char="q"/>
            </a:pPr>
            <a:r>
              <a:rPr lang="en-US" sz="2400" i="1" dirty="0"/>
              <a:t>Option to restore or permanently delete</a:t>
            </a:r>
            <a:endParaRPr lang="en-IN" sz="2400" i="1" dirty="0"/>
          </a:p>
        </p:txBody>
      </p:sp>
      <p:sp>
        <p:nvSpPr>
          <p:cNvPr id="5" name="TextBox 4">
            <a:extLst>
              <a:ext uri="{FF2B5EF4-FFF2-40B4-BE49-F238E27FC236}">
                <a16:creationId xmlns:a16="http://schemas.microsoft.com/office/drawing/2014/main" id="{47A52258-6225-C957-7701-AF5AFC18BF39}"/>
              </a:ext>
            </a:extLst>
          </p:cNvPr>
          <p:cNvSpPr txBox="1"/>
          <p:nvPr/>
        </p:nvSpPr>
        <p:spPr>
          <a:xfrm>
            <a:off x="1361208" y="4898582"/>
            <a:ext cx="4333009" cy="461665"/>
          </a:xfrm>
          <a:prstGeom prst="rect">
            <a:avLst/>
          </a:prstGeom>
          <a:noFill/>
        </p:spPr>
        <p:txBody>
          <a:bodyPr wrap="square" rtlCol="0">
            <a:spAutoFit/>
          </a:bodyPr>
          <a:lstStyle/>
          <a:p>
            <a:pPr marL="342900" indent="-342900">
              <a:buFont typeface="Wingdings" panose="05000000000000000000" pitchFamily="2" charset="2"/>
              <a:buChar char="q"/>
            </a:pPr>
            <a:r>
              <a:rPr lang="en-IN" sz="2400" i="1" dirty="0"/>
              <a:t>Prevents accidental data loss.</a:t>
            </a:r>
          </a:p>
        </p:txBody>
      </p:sp>
      <p:pic>
        <p:nvPicPr>
          <p:cNvPr id="6" name="Picture 5">
            <a:extLst>
              <a:ext uri="{FF2B5EF4-FFF2-40B4-BE49-F238E27FC236}">
                <a16:creationId xmlns:a16="http://schemas.microsoft.com/office/drawing/2014/main" id="{867A12C6-AB28-C303-A2D9-0889131DD675}"/>
              </a:ext>
            </a:extLst>
          </p:cNvPr>
          <p:cNvPicPr>
            <a:picLocks noChangeAspect="1"/>
          </p:cNvPicPr>
          <p:nvPr/>
        </p:nvPicPr>
        <p:blipFill>
          <a:blip r:embed="rId2"/>
          <a:stretch>
            <a:fillRect/>
          </a:stretch>
        </p:blipFill>
        <p:spPr>
          <a:xfrm>
            <a:off x="6864925" y="1155392"/>
            <a:ext cx="4204855" cy="4204855"/>
          </a:xfrm>
          <a:prstGeom prst="rect">
            <a:avLst/>
          </a:prstGeom>
        </p:spPr>
      </p:pic>
    </p:spTree>
    <p:extLst>
      <p:ext uri="{BB962C8B-B14F-4D97-AF65-F5344CB8AC3E}">
        <p14:creationId xmlns:p14="http://schemas.microsoft.com/office/powerpoint/2010/main" val="2261972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89066A-E872-CC20-12E7-52F319191F58}"/>
              </a:ext>
            </a:extLst>
          </p:cNvPr>
          <p:cNvSpPr txBox="1"/>
          <p:nvPr/>
        </p:nvSpPr>
        <p:spPr>
          <a:xfrm>
            <a:off x="581891" y="446809"/>
            <a:ext cx="6421582" cy="707886"/>
          </a:xfrm>
          <a:prstGeom prst="rect">
            <a:avLst/>
          </a:prstGeom>
          <a:noFill/>
        </p:spPr>
        <p:txBody>
          <a:bodyPr wrap="square" rtlCol="0">
            <a:spAutoFit/>
          </a:bodyPr>
          <a:lstStyle/>
          <a:p>
            <a:r>
              <a:rPr lang="en-IN" sz="4000" i="1" u="sng" dirty="0"/>
              <a:t>Inline File Operative Features</a:t>
            </a:r>
          </a:p>
        </p:txBody>
      </p:sp>
      <p:pic>
        <p:nvPicPr>
          <p:cNvPr id="4" name="Picture 3">
            <a:extLst>
              <a:ext uri="{FF2B5EF4-FFF2-40B4-BE49-F238E27FC236}">
                <a16:creationId xmlns:a16="http://schemas.microsoft.com/office/drawing/2014/main" id="{715F9157-2770-33EB-9AB4-D9B2C573F985}"/>
              </a:ext>
            </a:extLst>
          </p:cNvPr>
          <p:cNvPicPr>
            <a:picLocks noChangeAspect="1"/>
          </p:cNvPicPr>
          <p:nvPr/>
        </p:nvPicPr>
        <p:blipFill>
          <a:blip r:embed="rId2"/>
          <a:stretch>
            <a:fillRect/>
          </a:stretch>
        </p:blipFill>
        <p:spPr>
          <a:xfrm>
            <a:off x="304298" y="1370519"/>
            <a:ext cx="11583404" cy="1008999"/>
          </a:xfrm>
          <a:prstGeom prst="rect">
            <a:avLst/>
          </a:prstGeom>
        </p:spPr>
      </p:pic>
      <p:sp>
        <p:nvSpPr>
          <p:cNvPr id="5" name="TextBox 4">
            <a:extLst>
              <a:ext uri="{FF2B5EF4-FFF2-40B4-BE49-F238E27FC236}">
                <a16:creationId xmlns:a16="http://schemas.microsoft.com/office/drawing/2014/main" id="{41B9A29E-3213-38A8-1A59-8317800A1457}"/>
              </a:ext>
            </a:extLst>
          </p:cNvPr>
          <p:cNvSpPr txBox="1"/>
          <p:nvPr/>
        </p:nvSpPr>
        <p:spPr>
          <a:xfrm>
            <a:off x="945573" y="2595342"/>
            <a:ext cx="9102436" cy="4102533"/>
          </a:xfrm>
          <a:prstGeom prst="rect">
            <a:avLst/>
          </a:prstGeom>
          <a:noFill/>
        </p:spPr>
        <p:txBody>
          <a:bodyPr wrap="square" rtlCol="0">
            <a:spAutoFit/>
          </a:bodyPr>
          <a:lstStyle/>
          <a:p>
            <a:r>
              <a:rPr lang="en-IN" sz="2200" i="1" dirty="0"/>
              <a:t>On hover, we can get multiple options to operate upon the file within the list row which makes the </a:t>
            </a:r>
            <a:r>
              <a:rPr lang="en-IN" sz="2200" i="1" dirty="0" err="1"/>
              <a:t>UX</a:t>
            </a:r>
            <a:r>
              <a:rPr lang="en-IN" sz="2200" i="1" dirty="0"/>
              <a:t> very effective</a:t>
            </a:r>
          </a:p>
          <a:p>
            <a:endParaRPr lang="en-IN" sz="2200" i="1" dirty="0"/>
          </a:p>
          <a:p>
            <a:pPr>
              <a:lnSpc>
                <a:spcPct val="150000"/>
              </a:lnSpc>
            </a:pPr>
            <a:r>
              <a:rPr lang="en-IN" sz="2200" i="1" dirty="0"/>
              <a:t>These operations include :</a:t>
            </a:r>
          </a:p>
          <a:p>
            <a:pPr marL="342900" indent="-342900">
              <a:lnSpc>
                <a:spcPct val="150000"/>
              </a:lnSpc>
              <a:buFont typeface="Wingdings" panose="05000000000000000000" pitchFamily="2" charset="2"/>
              <a:buChar char="q"/>
            </a:pPr>
            <a:r>
              <a:rPr lang="en-IN" sz="2200" i="1" dirty="0"/>
              <a:t>Mark As Important (Star)</a:t>
            </a:r>
          </a:p>
          <a:p>
            <a:pPr marL="342900" indent="-342900">
              <a:lnSpc>
                <a:spcPct val="150000"/>
              </a:lnSpc>
              <a:buFont typeface="Wingdings" panose="05000000000000000000" pitchFamily="2" charset="2"/>
              <a:buChar char="q"/>
            </a:pPr>
            <a:r>
              <a:rPr lang="en-IN" sz="2200" i="1" dirty="0"/>
              <a:t>Share with others</a:t>
            </a:r>
          </a:p>
          <a:p>
            <a:pPr marL="342900" indent="-342900">
              <a:lnSpc>
                <a:spcPct val="150000"/>
              </a:lnSpc>
              <a:buFont typeface="Wingdings" panose="05000000000000000000" pitchFamily="2" charset="2"/>
              <a:buChar char="q"/>
            </a:pPr>
            <a:r>
              <a:rPr lang="en-IN" sz="2200" i="1" dirty="0"/>
              <a:t>Rename the file</a:t>
            </a:r>
          </a:p>
          <a:p>
            <a:pPr marL="342900" indent="-342900">
              <a:lnSpc>
                <a:spcPct val="150000"/>
              </a:lnSpc>
              <a:buFont typeface="Wingdings" panose="05000000000000000000" pitchFamily="2" charset="2"/>
              <a:buChar char="q"/>
            </a:pPr>
            <a:r>
              <a:rPr lang="en-IN" sz="2200" i="1" dirty="0"/>
              <a:t>Download the file</a:t>
            </a:r>
          </a:p>
          <a:p>
            <a:pPr marL="342900" indent="-342900">
              <a:lnSpc>
                <a:spcPct val="150000"/>
              </a:lnSpc>
              <a:buFont typeface="Wingdings" panose="05000000000000000000" pitchFamily="2" charset="2"/>
              <a:buChar char="q"/>
            </a:pPr>
            <a:r>
              <a:rPr lang="en-IN" sz="2200" i="1" dirty="0"/>
              <a:t>Move to Bin</a:t>
            </a:r>
          </a:p>
        </p:txBody>
      </p:sp>
    </p:spTree>
    <p:extLst>
      <p:ext uri="{BB962C8B-B14F-4D97-AF65-F5344CB8AC3E}">
        <p14:creationId xmlns:p14="http://schemas.microsoft.com/office/powerpoint/2010/main" val="1601562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A82854-29A5-2FCF-7096-08D37E4D6BC5}"/>
              </a:ext>
            </a:extLst>
          </p:cNvPr>
          <p:cNvSpPr txBox="1"/>
          <p:nvPr/>
        </p:nvSpPr>
        <p:spPr>
          <a:xfrm>
            <a:off x="997526" y="571500"/>
            <a:ext cx="7917873" cy="707886"/>
          </a:xfrm>
          <a:prstGeom prst="rect">
            <a:avLst/>
          </a:prstGeom>
          <a:noFill/>
        </p:spPr>
        <p:txBody>
          <a:bodyPr wrap="square" rtlCol="0">
            <a:spAutoFit/>
          </a:bodyPr>
          <a:lstStyle/>
          <a:p>
            <a:r>
              <a:rPr lang="en-IN" sz="4000" i="1" u="sng" dirty="0"/>
              <a:t>Storage Tracking and Visualization </a:t>
            </a:r>
          </a:p>
        </p:txBody>
      </p:sp>
      <p:sp>
        <p:nvSpPr>
          <p:cNvPr id="3" name="Rectangle 1">
            <a:extLst>
              <a:ext uri="{FF2B5EF4-FFF2-40B4-BE49-F238E27FC236}">
                <a16:creationId xmlns:a16="http://schemas.microsoft.com/office/drawing/2014/main" id="{9C7DEA5E-075F-2517-7CCB-F272B7BF8997}"/>
              </a:ext>
            </a:extLst>
          </p:cNvPr>
          <p:cNvSpPr>
            <a:spLocks noChangeArrowheads="1"/>
          </p:cNvSpPr>
          <p:nvPr/>
        </p:nvSpPr>
        <p:spPr bwMode="auto">
          <a:xfrm>
            <a:off x="426026" y="1625230"/>
            <a:ext cx="726324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1" u="none" strike="noStrike" cap="none" normalizeH="0" baseline="0" dirty="0">
                <a:ln>
                  <a:noFill/>
                </a:ln>
                <a:solidFill>
                  <a:schemeClr val="tx1"/>
                </a:solidFill>
                <a:effectLst/>
                <a:latin typeface="Arial" panose="020B0604020202020204" pitchFamily="34" charset="0"/>
              </a:rPr>
              <a:t>Integrated Recharts library in the React frontend for interactive data visualization.</a:t>
            </a:r>
          </a:p>
          <a:p>
            <a:pPr marR="0" lvl="0" algn="l" defTabSz="914400" rtl="0" eaLnBrk="0" fontAlgn="base" latinLnBrk="0" hangingPunct="0">
              <a:lnSpc>
                <a:spcPct val="100000"/>
              </a:lnSpc>
              <a:spcBef>
                <a:spcPct val="0"/>
              </a:spcBef>
              <a:spcAft>
                <a:spcPct val="0"/>
              </a:spcAft>
              <a:buClrTx/>
              <a:buSzTx/>
              <a:tabLst/>
            </a:pPr>
            <a:endParaRPr kumimoji="0" lang="en-US" altLang="en-US" sz="2000" i="1"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1" u="none" strike="noStrike" cap="none" normalizeH="0" baseline="0" dirty="0">
                <a:ln>
                  <a:noFill/>
                </a:ln>
                <a:solidFill>
                  <a:schemeClr val="tx1"/>
                </a:solidFill>
                <a:effectLst/>
                <a:latin typeface="Arial" panose="020B0604020202020204" pitchFamily="34" charset="0"/>
              </a:rPr>
              <a:t>Implemented per-user storage tracking using </a:t>
            </a:r>
            <a:r>
              <a:rPr kumimoji="0" lang="en-US" altLang="en-US" sz="2000" i="1" u="none" strike="noStrike" cap="none" normalizeH="0" baseline="0" dirty="0" err="1">
                <a:ln>
                  <a:noFill/>
                </a:ln>
                <a:solidFill>
                  <a:schemeClr val="tx1"/>
                </a:solidFill>
                <a:effectLst/>
                <a:latin typeface="Arial" panose="020B0604020202020204" pitchFamily="34" charset="0"/>
              </a:rPr>
              <a:t>Appwrite’s</a:t>
            </a:r>
            <a:r>
              <a:rPr kumimoji="0" lang="en-US" altLang="en-US" sz="2000" i="1" u="none" strike="noStrike" cap="none" normalizeH="0" baseline="0" dirty="0">
                <a:ln>
                  <a:noFill/>
                </a:ln>
                <a:solidFill>
                  <a:schemeClr val="tx1"/>
                </a:solidFill>
                <a:effectLst/>
                <a:latin typeface="Arial" panose="020B0604020202020204" pitchFamily="34" charset="0"/>
              </a:rPr>
              <a:t> Databases and Storage APIs.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i="1"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1" u="none" strike="noStrike" cap="none" normalizeH="0" baseline="0" dirty="0">
                <a:ln>
                  <a:noFill/>
                </a:ln>
                <a:solidFill>
                  <a:schemeClr val="tx1"/>
                </a:solidFill>
                <a:effectLst/>
                <a:latin typeface="Arial" panose="020B0604020202020204" pitchFamily="34" charset="0"/>
              </a:rPr>
              <a:t>Displayed: </a:t>
            </a:r>
          </a:p>
          <a:p>
            <a:pPr lvl="1" eaLnBrk="0" fontAlgn="base" hangingPunct="0">
              <a:spcBef>
                <a:spcPct val="0"/>
              </a:spcBef>
              <a:spcAft>
                <a:spcPct val="0"/>
              </a:spcAft>
              <a:buFontTx/>
              <a:buChar char="•"/>
            </a:pPr>
            <a:r>
              <a:rPr kumimoji="0" lang="en-US" altLang="en-US" sz="2000" i="1" u="none" strike="noStrike" cap="none" normalizeH="0" baseline="0" dirty="0">
                <a:ln>
                  <a:noFill/>
                </a:ln>
                <a:solidFill>
                  <a:schemeClr val="tx1"/>
                </a:solidFill>
                <a:effectLst/>
                <a:latin typeface="Arial" panose="020B0604020202020204" pitchFamily="34" charset="0"/>
              </a:rPr>
              <a:t>Total storage used by the user.</a:t>
            </a:r>
          </a:p>
          <a:p>
            <a:pPr lvl="1" eaLnBrk="0" fontAlgn="base" hangingPunct="0">
              <a:spcBef>
                <a:spcPct val="0"/>
              </a:spcBef>
              <a:spcAft>
                <a:spcPct val="0"/>
              </a:spcAft>
              <a:buFontTx/>
              <a:buChar char="•"/>
            </a:pPr>
            <a:r>
              <a:rPr kumimoji="0" lang="en-US" altLang="en-US" sz="2000" i="1" u="none" strike="noStrike" cap="none" normalizeH="0" baseline="0" dirty="0">
                <a:ln>
                  <a:noFill/>
                </a:ln>
                <a:solidFill>
                  <a:schemeClr val="tx1"/>
                </a:solidFill>
                <a:effectLst/>
                <a:latin typeface="Arial" panose="020B0604020202020204" pitchFamily="34" charset="0"/>
              </a:rPr>
              <a:t>Breakdown of files based on their MIME types </a:t>
            </a:r>
          </a:p>
          <a:p>
            <a:pPr lvl="1" eaLnBrk="0" fontAlgn="base" hangingPunct="0">
              <a:spcBef>
                <a:spcPct val="0"/>
              </a:spcBef>
              <a:spcAft>
                <a:spcPct val="0"/>
              </a:spcAft>
              <a:buFontTx/>
              <a:buChar char="•"/>
            </a:pPr>
            <a:endParaRPr kumimoji="0" lang="en-US" altLang="en-US" sz="2000" i="1"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Font typeface="Wingdings" panose="05000000000000000000" pitchFamily="2" charset="2"/>
              <a:buChar char="q"/>
            </a:pPr>
            <a:r>
              <a:rPr lang="en-US" altLang="en-US" sz="2000" i="1" dirty="0">
                <a:latin typeface="Arial" panose="020B0604020202020204" pitchFamily="34" charset="0"/>
              </a:rPr>
              <a:t>C</a:t>
            </a:r>
            <a:r>
              <a:rPr kumimoji="0" lang="en-US" altLang="en-US" sz="2000" i="1" u="none" strike="noStrike" cap="none" normalizeH="0" baseline="0" dirty="0">
                <a:ln>
                  <a:noFill/>
                </a:ln>
                <a:solidFill>
                  <a:schemeClr val="tx1"/>
                </a:solidFill>
                <a:effectLst/>
                <a:latin typeface="Arial" panose="020B0604020202020204" pitchFamily="34" charset="0"/>
              </a:rPr>
              <a:t>harts update dynamically whenever files are uploaded, deleted, or restored.</a:t>
            </a:r>
          </a:p>
          <a:p>
            <a:pPr eaLnBrk="0" fontAlgn="base" hangingPunct="0">
              <a:spcBef>
                <a:spcPct val="0"/>
              </a:spcBef>
              <a:spcAft>
                <a:spcPct val="0"/>
              </a:spcAft>
            </a:pPr>
            <a:endParaRPr kumimoji="0" lang="en-US" altLang="en-US" sz="2000" i="1"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1" u="none" strike="noStrike" cap="none" normalizeH="0" baseline="0" dirty="0">
                <a:ln>
                  <a:noFill/>
                </a:ln>
                <a:solidFill>
                  <a:schemeClr val="tx1"/>
                </a:solidFill>
                <a:effectLst/>
                <a:latin typeface="Arial" panose="020B0604020202020204" pitchFamily="34" charset="0"/>
              </a:rPr>
              <a:t>This </a:t>
            </a:r>
            <a:r>
              <a:rPr lang="en-US" altLang="en-US" sz="2000" i="1" dirty="0">
                <a:latin typeface="Arial" panose="020B0604020202020204" pitchFamily="34" charset="0"/>
              </a:rPr>
              <a:t>p</a:t>
            </a:r>
            <a:r>
              <a:rPr kumimoji="0" lang="en-US" altLang="en-US" sz="2000" i="1" u="none" strike="noStrike" cap="none" normalizeH="0" baseline="0" dirty="0">
                <a:ln>
                  <a:noFill/>
                </a:ln>
                <a:solidFill>
                  <a:schemeClr val="tx1"/>
                </a:solidFill>
                <a:effectLst/>
                <a:latin typeface="Arial" panose="020B0604020202020204" pitchFamily="34" charset="0"/>
              </a:rPr>
              <a:t>rovides a clear and visual insight into storage consumption patterns.</a:t>
            </a:r>
          </a:p>
        </p:txBody>
      </p:sp>
      <p:pic>
        <p:nvPicPr>
          <p:cNvPr id="5" name="Picture 4">
            <a:extLst>
              <a:ext uri="{FF2B5EF4-FFF2-40B4-BE49-F238E27FC236}">
                <a16:creationId xmlns:a16="http://schemas.microsoft.com/office/drawing/2014/main" id="{9BD1C4AB-0E3C-F4CC-291F-6D414E809620}"/>
              </a:ext>
            </a:extLst>
          </p:cNvPr>
          <p:cNvPicPr>
            <a:picLocks noChangeAspect="1"/>
          </p:cNvPicPr>
          <p:nvPr/>
        </p:nvPicPr>
        <p:blipFill>
          <a:blip r:embed="rId2"/>
          <a:stretch>
            <a:fillRect/>
          </a:stretch>
        </p:blipFill>
        <p:spPr>
          <a:xfrm>
            <a:off x="8527343" y="222580"/>
            <a:ext cx="2972058" cy="3025402"/>
          </a:xfrm>
          <a:prstGeom prst="rect">
            <a:avLst/>
          </a:prstGeom>
        </p:spPr>
      </p:pic>
      <p:pic>
        <p:nvPicPr>
          <p:cNvPr id="9" name="Picture 8">
            <a:extLst>
              <a:ext uri="{FF2B5EF4-FFF2-40B4-BE49-F238E27FC236}">
                <a16:creationId xmlns:a16="http://schemas.microsoft.com/office/drawing/2014/main" id="{F8465B0E-8A2E-D028-69CA-CEACF96C8D74}"/>
              </a:ext>
            </a:extLst>
          </p:cNvPr>
          <p:cNvPicPr>
            <a:picLocks noChangeAspect="1"/>
          </p:cNvPicPr>
          <p:nvPr/>
        </p:nvPicPr>
        <p:blipFill>
          <a:blip r:embed="rId3"/>
          <a:stretch>
            <a:fillRect/>
          </a:stretch>
        </p:blipFill>
        <p:spPr>
          <a:xfrm>
            <a:off x="7211291" y="3428999"/>
            <a:ext cx="4980709" cy="3025401"/>
          </a:xfrm>
          <a:prstGeom prst="rect">
            <a:avLst/>
          </a:prstGeom>
        </p:spPr>
      </p:pic>
    </p:spTree>
    <p:extLst>
      <p:ext uri="{BB962C8B-B14F-4D97-AF65-F5344CB8AC3E}">
        <p14:creationId xmlns:p14="http://schemas.microsoft.com/office/powerpoint/2010/main" val="3455328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9AB7A6-54A9-FB4F-1B03-69F0C0F91925}"/>
              </a:ext>
            </a:extLst>
          </p:cNvPr>
          <p:cNvSpPr txBox="1"/>
          <p:nvPr/>
        </p:nvSpPr>
        <p:spPr>
          <a:xfrm>
            <a:off x="540327" y="259773"/>
            <a:ext cx="8780318" cy="707886"/>
          </a:xfrm>
          <a:prstGeom prst="rect">
            <a:avLst/>
          </a:prstGeom>
          <a:noFill/>
        </p:spPr>
        <p:txBody>
          <a:bodyPr wrap="square" rtlCol="0">
            <a:spAutoFit/>
          </a:bodyPr>
          <a:lstStyle/>
          <a:p>
            <a:r>
              <a:rPr lang="en-IN" sz="4000" i="1" u="sng" dirty="0"/>
              <a:t>Challenges faced and their solutions</a:t>
            </a:r>
          </a:p>
        </p:txBody>
      </p:sp>
      <p:sp>
        <p:nvSpPr>
          <p:cNvPr id="3" name="Rectangle: Rounded Corners 2">
            <a:extLst>
              <a:ext uri="{FF2B5EF4-FFF2-40B4-BE49-F238E27FC236}">
                <a16:creationId xmlns:a16="http://schemas.microsoft.com/office/drawing/2014/main" id="{298FF7DA-592C-D133-4350-172B39A3B07C}"/>
              </a:ext>
            </a:extLst>
          </p:cNvPr>
          <p:cNvSpPr/>
          <p:nvPr/>
        </p:nvSpPr>
        <p:spPr>
          <a:xfrm>
            <a:off x="842525" y="1393110"/>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CAFCE878-9ABD-0C77-AF24-8A0B62A1DCCD}"/>
              </a:ext>
            </a:extLst>
          </p:cNvPr>
          <p:cNvSpPr/>
          <p:nvPr/>
        </p:nvSpPr>
        <p:spPr>
          <a:xfrm>
            <a:off x="842524" y="3260406"/>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3EC8A0C3-6FDF-18BD-97BA-8B6BBB8E9EB4}"/>
              </a:ext>
            </a:extLst>
          </p:cNvPr>
          <p:cNvSpPr/>
          <p:nvPr/>
        </p:nvSpPr>
        <p:spPr>
          <a:xfrm>
            <a:off x="863310" y="5232454"/>
            <a:ext cx="483177" cy="464871"/>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2BF7530-156F-F443-B12D-FF08F08A832D}"/>
              </a:ext>
            </a:extLst>
          </p:cNvPr>
          <p:cNvSpPr txBox="1"/>
          <p:nvPr/>
        </p:nvSpPr>
        <p:spPr>
          <a:xfrm>
            <a:off x="863310" y="3221810"/>
            <a:ext cx="446809" cy="464871"/>
          </a:xfrm>
          <a:prstGeom prst="rect">
            <a:avLst/>
          </a:prstGeom>
          <a:noFill/>
        </p:spPr>
        <p:txBody>
          <a:bodyPr wrap="square" rtlCol="0">
            <a:spAutoFit/>
          </a:bodyPr>
          <a:lstStyle/>
          <a:p>
            <a:pPr algn="ctr">
              <a:lnSpc>
                <a:spcPct val="150000"/>
              </a:lnSpc>
            </a:pPr>
            <a:r>
              <a:rPr lang="en-IN" dirty="0"/>
              <a:t>2</a:t>
            </a:r>
          </a:p>
        </p:txBody>
      </p:sp>
      <p:sp>
        <p:nvSpPr>
          <p:cNvPr id="9" name="TextBox 8">
            <a:extLst>
              <a:ext uri="{FF2B5EF4-FFF2-40B4-BE49-F238E27FC236}">
                <a16:creationId xmlns:a16="http://schemas.microsoft.com/office/drawing/2014/main" id="{30FCB482-0159-8354-4E94-420F095E8DC6}"/>
              </a:ext>
            </a:extLst>
          </p:cNvPr>
          <p:cNvSpPr txBox="1"/>
          <p:nvPr/>
        </p:nvSpPr>
        <p:spPr>
          <a:xfrm>
            <a:off x="863310" y="1350346"/>
            <a:ext cx="446809" cy="464871"/>
          </a:xfrm>
          <a:prstGeom prst="rect">
            <a:avLst/>
          </a:prstGeom>
          <a:noFill/>
        </p:spPr>
        <p:txBody>
          <a:bodyPr wrap="square" rtlCol="0">
            <a:spAutoFit/>
          </a:bodyPr>
          <a:lstStyle/>
          <a:p>
            <a:pPr algn="ctr">
              <a:lnSpc>
                <a:spcPct val="150000"/>
              </a:lnSpc>
            </a:pPr>
            <a:r>
              <a:rPr lang="en-IN" dirty="0"/>
              <a:t>1</a:t>
            </a:r>
          </a:p>
        </p:txBody>
      </p:sp>
      <p:sp>
        <p:nvSpPr>
          <p:cNvPr id="11" name="TextBox 10">
            <a:extLst>
              <a:ext uri="{FF2B5EF4-FFF2-40B4-BE49-F238E27FC236}">
                <a16:creationId xmlns:a16="http://schemas.microsoft.com/office/drawing/2014/main" id="{ABBB72E7-6FCC-DD16-ABB3-EA0A7C9B8250}"/>
              </a:ext>
            </a:extLst>
          </p:cNvPr>
          <p:cNvSpPr txBox="1"/>
          <p:nvPr/>
        </p:nvSpPr>
        <p:spPr>
          <a:xfrm>
            <a:off x="878892" y="5189690"/>
            <a:ext cx="446809" cy="464871"/>
          </a:xfrm>
          <a:prstGeom prst="rect">
            <a:avLst/>
          </a:prstGeom>
          <a:noFill/>
        </p:spPr>
        <p:txBody>
          <a:bodyPr wrap="square" rtlCol="0">
            <a:spAutoFit/>
          </a:bodyPr>
          <a:lstStyle/>
          <a:p>
            <a:pPr algn="ctr">
              <a:lnSpc>
                <a:spcPct val="150000"/>
              </a:lnSpc>
            </a:pPr>
            <a:r>
              <a:rPr lang="en-IN" dirty="0"/>
              <a:t>3</a:t>
            </a:r>
          </a:p>
        </p:txBody>
      </p:sp>
      <p:sp>
        <p:nvSpPr>
          <p:cNvPr id="14" name="TextBox 13">
            <a:extLst>
              <a:ext uri="{FF2B5EF4-FFF2-40B4-BE49-F238E27FC236}">
                <a16:creationId xmlns:a16="http://schemas.microsoft.com/office/drawing/2014/main" id="{6721E47D-B207-B7C1-8C48-7500D3CE7471}"/>
              </a:ext>
            </a:extLst>
          </p:cNvPr>
          <p:cNvSpPr txBox="1"/>
          <p:nvPr/>
        </p:nvSpPr>
        <p:spPr>
          <a:xfrm>
            <a:off x="1603657" y="1199938"/>
            <a:ext cx="8070280" cy="1615827"/>
          </a:xfrm>
          <a:prstGeom prst="rect">
            <a:avLst/>
          </a:prstGeom>
          <a:noFill/>
        </p:spPr>
        <p:txBody>
          <a:bodyPr wrap="square" rtlCol="0">
            <a:spAutoFit/>
          </a:bodyPr>
          <a:lstStyle/>
          <a:p>
            <a:pPr>
              <a:lnSpc>
                <a:spcPct val="150000"/>
              </a:lnSpc>
            </a:pPr>
            <a:r>
              <a:rPr lang="en-US" sz="2200" b="1" i="1" dirty="0"/>
              <a:t>Ensuring smooth navigation between folders.</a:t>
            </a:r>
          </a:p>
          <a:p>
            <a:r>
              <a:rPr lang="en-IN" sz="2200" i="1" u="sng" dirty="0"/>
              <a:t>SOLUTION</a:t>
            </a:r>
            <a:r>
              <a:rPr lang="en-IN" sz="2200" dirty="0"/>
              <a:t> : </a:t>
            </a:r>
            <a:r>
              <a:rPr lang="en-IN" sz="2200" i="1" dirty="0"/>
              <a:t>Used </a:t>
            </a:r>
            <a:r>
              <a:rPr lang="en-IN" sz="2200" i="1" dirty="0" err="1"/>
              <a:t>parentId</a:t>
            </a:r>
            <a:r>
              <a:rPr lang="en-IN" sz="2200" i="1" dirty="0"/>
              <a:t> attribute for each file and folder and save the </a:t>
            </a:r>
            <a:r>
              <a:rPr lang="en-IN" sz="2200" i="1" dirty="0" err="1"/>
              <a:t>currentParentId</a:t>
            </a:r>
            <a:r>
              <a:rPr lang="en-IN" sz="2200" i="1" dirty="0"/>
              <a:t> in the </a:t>
            </a:r>
            <a:r>
              <a:rPr lang="en-IN" sz="2200" i="1" dirty="0" err="1"/>
              <a:t>localStorage</a:t>
            </a:r>
            <a:r>
              <a:rPr lang="en-IN" sz="2200" i="1" dirty="0"/>
              <a:t> to display the files for which </a:t>
            </a:r>
            <a:r>
              <a:rPr lang="en-IN" sz="2200" i="1" dirty="0" err="1"/>
              <a:t>parentId</a:t>
            </a:r>
            <a:r>
              <a:rPr lang="en-IN" sz="2200" i="1" dirty="0"/>
              <a:t> equals </a:t>
            </a:r>
            <a:r>
              <a:rPr lang="en-IN" sz="2200" i="1" dirty="0" err="1"/>
              <a:t>currentParentId</a:t>
            </a:r>
            <a:endParaRPr lang="en-IN" sz="2200" i="1" dirty="0"/>
          </a:p>
        </p:txBody>
      </p:sp>
      <p:sp>
        <p:nvSpPr>
          <p:cNvPr id="15" name="TextBox 14">
            <a:extLst>
              <a:ext uri="{FF2B5EF4-FFF2-40B4-BE49-F238E27FC236}">
                <a16:creationId xmlns:a16="http://schemas.microsoft.com/office/drawing/2014/main" id="{F4904463-574D-AAD5-8CB1-7477D97E822D}"/>
              </a:ext>
            </a:extLst>
          </p:cNvPr>
          <p:cNvSpPr txBox="1"/>
          <p:nvPr/>
        </p:nvSpPr>
        <p:spPr>
          <a:xfrm>
            <a:off x="1603656" y="3048044"/>
            <a:ext cx="7852071" cy="1615827"/>
          </a:xfrm>
          <a:prstGeom prst="rect">
            <a:avLst/>
          </a:prstGeom>
          <a:noFill/>
        </p:spPr>
        <p:txBody>
          <a:bodyPr wrap="square" rtlCol="0">
            <a:spAutoFit/>
          </a:bodyPr>
          <a:lstStyle/>
          <a:p>
            <a:pPr>
              <a:lnSpc>
                <a:spcPct val="150000"/>
              </a:lnSpc>
            </a:pPr>
            <a:r>
              <a:rPr lang="en-US" sz="2200" b="1" i="1" dirty="0"/>
              <a:t>Managing state updates after file operations</a:t>
            </a:r>
            <a:r>
              <a:rPr lang="en-US" sz="2200" i="1" dirty="0"/>
              <a:t>.</a:t>
            </a:r>
          </a:p>
          <a:p>
            <a:r>
              <a:rPr lang="en-US" sz="2200" i="1" u="sng" dirty="0"/>
              <a:t>SOLUTION</a:t>
            </a:r>
            <a:r>
              <a:rPr lang="en-US" sz="2200" u="sng" dirty="0"/>
              <a:t> </a:t>
            </a:r>
            <a:r>
              <a:rPr lang="en-US" sz="2200" dirty="0"/>
              <a:t>: </a:t>
            </a:r>
            <a:r>
              <a:rPr lang="en-US" sz="2200" i="1" dirty="0"/>
              <a:t>Used a Refresh Context and </a:t>
            </a:r>
            <a:r>
              <a:rPr lang="en-US" sz="2200" i="1" dirty="0" err="1"/>
              <a:t>hookes</a:t>
            </a:r>
            <a:r>
              <a:rPr lang="en-US" sz="2200" i="1" dirty="0"/>
              <a:t> (</a:t>
            </a:r>
            <a:r>
              <a:rPr lang="en-US" sz="2200" i="1" dirty="0" err="1"/>
              <a:t>useEffect</a:t>
            </a:r>
            <a:r>
              <a:rPr lang="en-US" sz="2200" i="1" dirty="0"/>
              <a:t>) to update the value of </a:t>
            </a:r>
            <a:r>
              <a:rPr lang="en-US" sz="2200" i="1" dirty="0" err="1"/>
              <a:t>refreshToken</a:t>
            </a:r>
            <a:r>
              <a:rPr lang="en-US" sz="2200" i="1" dirty="0"/>
              <a:t> whenever the list file needs to be updated</a:t>
            </a:r>
            <a:endParaRPr lang="en-IN" sz="2200" dirty="0"/>
          </a:p>
        </p:txBody>
      </p:sp>
      <p:sp>
        <p:nvSpPr>
          <p:cNvPr id="16" name="TextBox 15">
            <a:extLst>
              <a:ext uri="{FF2B5EF4-FFF2-40B4-BE49-F238E27FC236}">
                <a16:creationId xmlns:a16="http://schemas.microsoft.com/office/drawing/2014/main" id="{A4A83A3D-D405-6B0F-2BDC-4E866C121EDF}"/>
              </a:ext>
            </a:extLst>
          </p:cNvPr>
          <p:cNvSpPr txBox="1"/>
          <p:nvPr/>
        </p:nvSpPr>
        <p:spPr>
          <a:xfrm>
            <a:off x="1683326" y="5070764"/>
            <a:ext cx="7024255" cy="1708160"/>
          </a:xfrm>
          <a:prstGeom prst="rect">
            <a:avLst/>
          </a:prstGeom>
          <a:noFill/>
        </p:spPr>
        <p:txBody>
          <a:bodyPr wrap="square" rtlCol="0">
            <a:spAutoFit/>
          </a:bodyPr>
          <a:lstStyle/>
          <a:p>
            <a:pPr>
              <a:lnSpc>
                <a:spcPct val="150000"/>
              </a:lnSpc>
            </a:pPr>
            <a:r>
              <a:rPr lang="en-IN" sz="2200" b="1" i="1" dirty="0"/>
              <a:t>Rendering large file lists slowed down the dashboard</a:t>
            </a:r>
          </a:p>
          <a:p>
            <a:r>
              <a:rPr lang="en-IN" sz="2200" i="1" u="sng" dirty="0"/>
              <a:t>SOLUTION</a:t>
            </a:r>
            <a:r>
              <a:rPr lang="en-IN" sz="2200" i="1" dirty="0"/>
              <a:t> : </a:t>
            </a:r>
            <a:r>
              <a:rPr lang="en-US" sz="2400" i="1" dirty="0"/>
              <a:t>Applied </a:t>
            </a:r>
            <a:r>
              <a:rPr lang="en-US" sz="2400" i="1" dirty="0" err="1"/>
              <a:t>React.memo</a:t>
            </a:r>
            <a:r>
              <a:rPr lang="en-US" sz="2400" i="1" dirty="0"/>
              <a:t>() and </a:t>
            </a:r>
            <a:r>
              <a:rPr lang="en-US" sz="2400" i="1" dirty="0" err="1"/>
              <a:t>useCallback</a:t>
            </a:r>
            <a:r>
              <a:rPr lang="en-US" sz="2400" i="1" dirty="0"/>
              <a:t>() to prevent unnecessary re-renders. Also used conditional rendering directly in the </a:t>
            </a:r>
            <a:r>
              <a:rPr lang="en-US" sz="2400" i="1" dirty="0" err="1"/>
              <a:t>jsx</a:t>
            </a:r>
            <a:endParaRPr lang="en-IN" sz="2200" i="1" u="sng" dirty="0"/>
          </a:p>
        </p:txBody>
      </p:sp>
    </p:spTree>
    <p:extLst>
      <p:ext uri="{BB962C8B-B14F-4D97-AF65-F5344CB8AC3E}">
        <p14:creationId xmlns:p14="http://schemas.microsoft.com/office/powerpoint/2010/main" val="2632506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AEC5C7-8EA9-B257-C9B4-4A7F4FED1CB2}"/>
              </a:ext>
            </a:extLst>
          </p:cNvPr>
          <p:cNvPicPr>
            <a:picLocks noChangeAspect="1"/>
          </p:cNvPicPr>
          <p:nvPr/>
        </p:nvPicPr>
        <p:blipFill>
          <a:blip r:embed="rId2">
            <a:extLst>
              <a:ext uri="{28A0092B-C50C-407E-A947-70E740481C1C}">
                <a14:useLocalDpi xmlns:a14="http://schemas.microsoft.com/office/drawing/2010/main" val="0"/>
              </a:ext>
            </a:extLst>
          </a:blip>
          <a:srcRect r="4330"/>
          <a:stretch>
            <a:fillRect/>
          </a:stretch>
        </p:blipFill>
        <p:spPr>
          <a:xfrm>
            <a:off x="1828800" y="433529"/>
            <a:ext cx="9029700" cy="5990942"/>
          </a:xfrm>
          <a:prstGeom prst="rect">
            <a:avLst/>
          </a:prstGeom>
        </p:spPr>
      </p:pic>
    </p:spTree>
    <p:extLst>
      <p:ext uri="{BB962C8B-B14F-4D97-AF65-F5344CB8AC3E}">
        <p14:creationId xmlns:p14="http://schemas.microsoft.com/office/powerpoint/2010/main" val="1196022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6DC77F-A6AB-28C0-DCD4-09F16E219A79}"/>
              </a:ext>
            </a:extLst>
          </p:cNvPr>
          <p:cNvSpPr txBox="1"/>
          <p:nvPr/>
        </p:nvSpPr>
        <p:spPr>
          <a:xfrm>
            <a:off x="3072245" y="2597726"/>
            <a:ext cx="6047510" cy="1446550"/>
          </a:xfrm>
          <a:prstGeom prst="rect">
            <a:avLst/>
          </a:prstGeom>
          <a:noFill/>
        </p:spPr>
        <p:txBody>
          <a:bodyPr wrap="square" rtlCol="0">
            <a:spAutoFit/>
          </a:bodyPr>
          <a:lstStyle/>
          <a:p>
            <a:r>
              <a:rPr lang="en-IN" sz="8800" b="1" i="1" dirty="0"/>
              <a:t>Thank You!</a:t>
            </a:r>
          </a:p>
        </p:txBody>
      </p:sp>
    </p:spTree>
    <p:extLst>
      <p:ext uri="{BB962C8B-B14F-4D97-AF65-F5344CB8AC3E}">
        <p14:creationId xmlns:p14="http://schemas.microsoft.com/office/powerpoint/2010/main" val="62149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802</TotalTime>
  <Words>1043</Words>
  <Application>Microsoft Office PowerPoint</Application>
  <PresentationFormat>Widescreen</PresentationFormat>
  <Paragraphs>140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DEENBANDHU CHHOTU RAM UNIVERSITY OF SCIENCE AND TECHNOLOGY,  MURTHAL (SONIPAT)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Kaushal Sindhu</dc:creator>
  <cp:lastModifiedBy>Kaushal Sindhu</cp:lastModifiedBy>
  <cp:revision>3</cp:revision>
  <dcterms:created xsi:type="dcterms:W3CDTF">2025-09-29T10:13:22Z</dcterms:created>
  <dcterms:modified xsi:type="dcterms:W3CDTF">2025-10-06T04:36:27Z</dcterms:modified>
</cp:coreProperties>
</file>