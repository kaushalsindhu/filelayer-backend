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22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1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7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98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8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07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9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350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02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5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19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9243B18-B0D9-4057-9384-3E0114D09D3C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BB36E4C-866E-411E-83E8-5DFD535875F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66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BB90C0-DB8E-D4B8-888B-1BD595CEE998}"/>
              </a:ext>
            </a:extLst>
          </p:cNvPr>
          <p:cNvSpPr txBox="1"/>
          <p:nvPr/>
        </p:nvSpPr>
        <p:spPr>
          <a:xfrm>
            <a:off x="1233948" y="3265103"/>
            <a:ext cx="8957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SLICE BASED TESTING</a:t>
            </a:r>
          </a:p>
        </p:txBody>
      </p:sp>
    </p:spTree>
    <p:extLst>
      <p:ext uri="{BB962C8B-B14F-4D97-AF65-F5344CB8AC3E}">
        <p14:creationId xmlns:p14="http://schemas.microsoft.com/office/powerpoint/2010/main" val="198232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D9D1A-45F9-151F-C229-E8BB59AD25ED}"/>
              </a:ext>
            </a:extLst>
          </p:cNvPr>
          <p:cNvSpPr txBox="1"/>
          <p:nvPr/>
        </p:nvSpPr>
        <p:spPr>
          <a:xfrm>
            <a:off x="924232" y="501445"/>
            <a:ext cx="6813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NEED OF SLICE BASED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6566E-3EA3-A54E-D7C1-99A887460F96}"/>
              </a:ext>
            </a:extLst>
          </p:cNvPr>
          <p:cNvSpPr txBox="1"/>
          <p:nvPr/>
        </p:nvSpPr>
        <p:spPr>
          <a:xfrm>
            <a:off x="924232" y="1465006"/>
            <a:ext cx="96061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Software testing ensures the correctness of programs by checking for bugs and errors.</a:t>
            </a:r>
            <a:br>
              <a:rPr lang="en-US" sz="2000" dirty="0"/>
            </a:br>
            <a:r>
              <a:rPr lang="en-US" sz="2000" dirty="0"/>
              <a:t>However, large programs often have code that is unrelated to the specific feature being tested.</a:t>
            </a:r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Slice-based testing helps focus only on the relevant parts of the code that influence a specific variable or output, reducing unnecessary test effort. In large and complex programs, not all code affects a particular behavior — slicing helps isolate just the meaningful segments.</a:t>
            </a:r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It is based on a technique called program slicing.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05817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9B7448-0A5C-9F25-F2BC-EF59BAB3102E}"/>
              </a:ext>
            </a:extLst>
          </p:cNvPr>
          <p:cNvSpPr txBox="1"/>
          <p:nvPr/>
        </p:nvSpPr>
        <p:spPr>
          <a:xfrm>
            <a:off x="1327354" y="7395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u="sng" dirty="0"/>
              <a:t>What is Program Slicing </a:t>
            </a:r>
            <a:r>
              <a:rPr lang="en-IN" sz="3600" dirty="0"/>
              <a:t>?</a:t>
            </a:r>
            <a:endParaRPr lang="en-IN" sz="36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92617-B184-FB4A-CB83-46FA11683869}"/>
              </a:ext>
            </a:extLst>
          </p:cNvPr>
          <p:cNvSpPr txBox="1"/>
          <p:nvPr/>
        </p:nvSpPr>
        <p:spPr>
          <a:xfrm>
            <a:off x="1465006" y="1750142"/>
            <a:ext cx="987158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Program</a:t>
            </a:r>
            <a:r>
              <a:rPr lang="en-US" sz="2000" b="1" dirty="0"/>
              <a:t> </a:t>
            </a:r>
            <a:r>
              <a:rPr lang="en-US" sz="2000" dirty="0"/>
              <a:t>slicing is a technique that extracts all statements that affect the value of a particular</a:t>
            </a:r>
            <a:r>
              <a:rPr lang="en-US" sz="2000" b="1" dirty="0"/>
              <a:t> </a:t>
            </a:r>
            <a:r>
              <a:rPr lang="en-US" sz="2000" dirty="0"/>
              <a:t>variable at a specific</a:t>
            </a:r>
            <a:r>
              <a:rPr lang="en-US" sz="2000" b="1" dirty="0"/>
              <a:t> </a:t>
            </a:r>
            <a:r>
              <a:rPr lang="en-US" sz="2000" dirty="0"/>
              <a:t>program</a:t>
            </a:r>
            <a:r>
              <a:rPr lang="en-US" sz="2000" b="1" dirty="0"/>
              <a:t> </a:t>
            </a:r>
            <a:r>
              <a:rPr lang="en-US" sz="2000" dirty="0"/>
              <a:t>point. It helps in understanding dependencies and reduces the amount of code we need to focus 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 program</a:t>
            </a:r>
            <a:r>
              <a:rPr lang="en-US" sz="2000" b="1" dirty="0"/>
              <a:t> </a:t>
            </a:r>
            <a:r>
              <a:rPr lang="en-US" sz="2000" dirty="0"/>
              <a:t>slice SSS of a program P with respect to a slicing</a:t>
            </a:r>
            <a:r>
              <a:rPr lang="en-US" sz="2000" b="1" dirty="0"/>
              <a:t> </a:t>
            </a:r>
            <a:r>
              <a:rPr lang="en-US" sz="2000" dirty="0"/>
              <a:t>criterion (</a:t>
            </a:r>
            <a:r>
              <a:rPr lang="en-US" sz="2000" dirty="0" err="1"/>
              <a:t>v,n</a:t>
            </a:r>
            <a:r>
              <a:rPr lang="en-US" sz="2000" dirty="0"/>
              <a:t>) is a subset of statements from P that potentially affect the value</a:t>
            </a:r>
            <a:r>
              <a:rPr lang="en-US" sz="2000" b="1" dirty="0"/>
              <a:t> </a:t>
            </a:r>
            <a:r>
              <a:rPr lang="en-US" sz="2000" dirty="0"/>
              <a:t>of</a:t>
            </a:r>
            <a:r>
              <a:rPr lang="en-US" sz="2000" b="1" dirty="0"/>
              <a:t> </a:t>
            </a:r>
            <a:r>
              <a:rPr lang="en-US" sz="2000" dirty="0"/>
              <a:t>variable </a:t>
            </a:r>
            <a:r>
              <a:rPr lang="en-US" sz="2000" dirty="0" err="1"/>
              <a:t>vvv</a:t>
            </a:r>
            <a:r>
              <a:rPr lang="en-US" sz="2000" dirty="0"/>
              <a:t> at program</a:t>
            </a:r>
            <a:r>
              <a:rPr lang="en-US" sz="2000" b="1" dirty="0"/>
              <a:t> </a:t>
            </a:r>
            <a:r>
              <a:rPr lang="en-US" sz="2000" dirty="0"/>
              <a:t>point n.</a:t>
            </a:r>
          </a:p>
          <a:p>
            <a:r>
              <a:rPr lang="en-US" sz="2000" dirty="0"/>
              <a:t>	Formally,</a:t>
            </a:r>
          </a:p>
          <a:p>
            <a:r>
              <a:rPr lang="en-US" sz="2000" dirty="0"/>
              <a:t>			</a:t>
            </a:r>
            <a:r>
              <a:rPr lang="en-US" sz="2000" b="1" dirty="0"/>
              <a:t>S = { </a:t>
            </a:r>
            <a:r>
              <a:rPr lang="en-US" sz="2400" b="1" dirty="0" err="1"/>
              <a:t>s</a:t>
            </a:r>
            <a:r>
              <a:rPr lang="en-US" sz="1600" b="1" dirty="0" err="1"/>
              <a:t>i</a:t>
            </a:r>
            <a:r>
              <a:rPr lang="en-US" sz="2000" b="1" dirty="0"/>
              <a:t> ​∈ P ∣ </a:t>
            </a:r>
            <a:r>
              <a:rPr lang="en-US" sz="2400" b="1" dirty="0" err="1"/>
              <a:t>s</a:t>
            </a:r>
            <a:r>
              <a:rPr lang="en-US" sz="1600" b="1" dirty="0" err="1"/>
              <a:t>i</a:t>
            </a:r>
            <a:r>
              <a:rPr lang="en-US" sz="2400" b="1" dirty="0"/>
              <a:t>​ </a:t>
            </a:r>
            <a:r>
              <a:rPr lang="en-US" sz="2000" b="1" dirty="0"/>
              <a:t>affects the value of v at point n }</a:t>
            </a:r>
          </a:p>
          <a:p>
            <a:r>
              <a:rPr lang="en-US" sz="2000" b="1" dirty="0"/>
              <a:t>	</a:t>
            </a:r>
            <a:r>
              <a:rPr lang="en-US" sz="2000" dirty="0"/>
              <a:t>where,</a:t>
            </a:r>
          </a:p>
          <a:p>
            <a:r>
              <a:rPr lang="en-US" sz="2000" b="1" dirty="0"/>
              <a:t>	</a:t>
            </a:r>
            <a:r>
              <a:rPr lang="en-IN" sz="2000" dirty="0"/>
              <a:t>P : original program</a:t>
            </a:r>
          </a:p>
          <a:p>
            <a:r>
              <a:rPr lang="en-IN" sz="2000" b="1" dirty="0"/>
              <a:t>	</a:t>
            </a:r>
            <a:r>
              <a:rPr lang="en-IN" sz="2000" dirty="0"/>
              <a:t>v : variable of interest</a:t>
            </a:r>
          </a:p>
          <a:p>
            <a:r>
              <a:rPr lang="en-IN" sz="2000" b="1" dirty="0"/>
              <a:t>	</a:t>
            </a:r>
            <a:r>
              <a:rPr lang="en-US" sz="2000" dirty="0"/>
              <a:t>n : specific program location (e.g., line number)</a:t>
            </a:r>
            <a:endParaRPr lang="en-IN" sz="2000" dirty="0"/>
          </a:p>
          <a:p>
            <a:r>
              <a:rPr lang="en-IN" sz="2000" b="1" dirty="0"/>
              <a:t>	</a:t>
            </a:r>
            <a:r>
              <a:rPr lang="en-US" sz="2400" dirty="0" err="1"/>
              <a:t>s</a:t>
            </a:r>
            <a:r>
              <a:rPr lang="en-US" dirty="0" err="1"/>
              <a:t>i</a:t>
            </a:r>
            <a:r>
              <a:rPr lang="en-US" sz="2000" dirty="0"/>
              <a:t> ​: individual statements in the program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9098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2B8511-E3BB-5B11-C62E-C37AF23AE1D9}"/>
              </a:ext>
            </a:extLst>
          </p:cNvPr>
          <p:cNvSpPr/>
          <p:nvPr/>
        </p:nvSpPr>
        <p:spPr>
          <a:xfrm>
            <a:off x="6695768" y="1947018"/>
            <a:ext cx="3834579" cy="32053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E040F5-3FCD-09EC-27E7-1EFCC836325F}"/>
              </a:ext>
            </a:extLst>
          </p:cNvPr>
          <p:cNvSpPr txBox="1"/>
          <p:nvPr/>
        </p:nvSpPr>
        <p:spPr>
          <a:xfrm>
            <a:off x="678426" y="383458"/>
            <a:ext cx="503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300" dirty="0"/>
              <a:t>Consider the program given below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B0560-E525-9F76-3E13-335753C7D38E}"/>
              </a:ext>
            </a:extLst>
          </p:cNvPr>
          <p:cNvSpPr txBox="1"/>
          <p:nvPr/>
        </p:nvSpPr>
        <p:spPr>
          <a:xfrm>
            <a:off x="884903" y="1209368"/>
            <a:ext cx="46703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b="1" dirty="0"/>
              <a:t>1. </a:t>
            </a:r>
            <a:r>
              <a:rPr lang="en-US" sz="2000" dirty="0"/>
              <a:t>void main()</a:t>
            </a:r>
          </a:p>
          <a:p>
            <a:r>
              <a:rPr lang="en-US" sz="2000" b="1" dirty="0"/>
              <a:t>2. </a:t>
            </a:r>
            <a:r>
              <a:rPr lang="en-US" sz="2000" dirty="0"/>
              <a:t>{</a:t>
            </a:r>
          </a:p>
          <a:p>
            <a:r>
              <a:rPr lang="en-US" sz="2000" b="1" dirty="0"/>
              <a:t>3.     </a:t>
            </a:r>
            <a:r>
              <a:rPr lang="en-US" sz="2000" dirty="0"/>
              <a:t>int a, b, c, d, e;</a:t>
            </a:r>
          </a:p>
          <a:p>
            <a:r>
              <a:rPr lang="en-US" sz="2000" b="1" dirty="0"/>
              <a:t>4.     </a:t>
            </a:r>
            <a:r>
              <a:rPr lang="en-US" sz="2000" dirty="0" err="1"/>
              <a:t>cout</a:t>
            </a:r>
            <a:r>
              <a:rPr lang="en-US" sz="2000" dirty="0"/>
              <a:t> &lt;&lt; "Enter the values of a, b and c"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r>
              <a:rPr lang="en-US" sz="2000" b="1" dirty="0"/>
              <a:t>5.     </a:t>
            </a:r>
            <a:r>
              <a:rPr lang="en-US" sz="2000" dirty="0" err="1"/>
              <a:t>cin</a:t>
            </a:r>
            <a:r>
              <a:rPr lang="en-US" sz="2000" dirty="0"/>
              <a:t> &gt;&gt; a &gt;&gt; b &gt;&gt; c;</a:t>
            </a:r>
          </a:p>
          <a:p>
            <a:r>
              <a:rPr lang="en-US" sz="2000" b="1" dirty="0"/>
              <a:t>6.     </a:t>
            </a:r>
            <a:r>
              <a:rPr lang="en-US" sz="2000" dirty="0"/>
              <a:t>d = a + b;</a:t>
            </a:r>
          </a:p>
          <a:p>
            <a:r>
              <a:rPr lang="en-US" sz="2000" b="1" dirty="0"/>
              <a:t>7.     </a:t>
            </a:r>
            <a:r>
              <a:rPr lang="en-US" sz="2000" dirty="0"/>
              <a:t>e = b + c;</a:t>
            </a:r>
          </a:p>
          <a:p>
            <a:r>
              <a:rPr lang="en-US" sz="2000" b="1" dirty="0"/>
              <a:t>8.     </a:t>
            </a:r>
            <a:r>
              <a:rPr lang="en-US" sz="2000" dirty="0" err="1"/>
              <a:t>cout</a:t>
            </a:r>
            <a:r>
              <a:rPr lang="en-US" sz="2000" dirty="0"/>
              <a:t> &lt;&lt; d;</a:t>
            </a:r>
          </a:p>
          <a:p>
            <a:r>
              <a:rPr lang="en-US" sz="2000" b="1" dirty="0"/>
              <a:t>9.     </a:t>
            </a:r>
            <a:r>
              <a:rPr lang="en-US" sz="2000" dirty="0" err="1"/>
              <a:t>cout</a:t>
            </a:r>
            <a:r>
              <a:rPr lang="en-US" sz="2000" dirty="0"/>
              <a:t> &lt;&lt; e;</a:t>
            </a:r>
          </a:p>
          <a:p>
            <a:r>
              <a:rPr lang="en-US" sz="2000" b="1" dirty="0"/>
              <a:t>10. </a:t>
            </a:r>
            <a:r>
              <a:rPr lang="en-US" sz="2000" dirty="0"/>
              <a:t>}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B13DB-C27F-B6AD-7338-00A9D0D34663}"/>
              </a:ext>
            </a:extLst>
          </p:cNvPr>
          <p:cNvSpPr txBox="1"/>
          <p:nvPr/>
        </p:nvSpPr>
        <p:spPr>
          <a:xfrm>
            <a:off x="6390969" y="1120878"/>
            <a:ext cx="5230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Slice on criterion S (e, 10) = (1, 2, 3, 4, 5, 7, 9,10)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CD88A-A3DB-66A5-0FF5-2B66513F4F14}"/>
              </a:ext>
            </a:extLst>
          </p:cNvPr>
          <p:cNvSpPr txBox="1"/>
          <p:nvPr/>
        </p:nvSpPr>
        <p:spPr>
          <a:xfrm>
            <a:off x="6961240" y="2257015"/>
            <a:ext cx="35887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  </a:t>
            </a:r>
            <a:r>
              <a:rPr lang="en-US" dirty="0"/>
              <a:t>void main()</a:t>
            </a:r>
          </a:p>
          <a:p>
            <a:r>
              <a:rPr lang="en-US" b="1" dirty="0"/>
              <a:t>2.   </a:t>
            </a:r>
            <a:r>
              <a:rPr lang="en-US" dirty="0"/>
              <a:t>{</a:t>
            </a:r>
          </a:p>
          <a:p>
            <a:r>
              <a:rPr lang="en-US" b="1" dirty="0"/>
              <a:t>3.       </a:t>
            </a:r>
            <a:r>
              <a:rPr lang="en-US" dirty="0"/>
              <a:t>int a, b, c, d, e;</a:t>
            </a:r>
          </a:p>
          <a:p>
            <a:r>
              <a:rPr lang="en-US" b="1" dirty="0"/>
              <a:t>4.       </a:t>
            </a:r>
            <a:r>
              <a:rPr lang="en-US" dirty="0" err="1"/>
              <a:t>cout</a:t>
            </a:r>
            <a:r>
              <a:rPr lang="en-US" dirty="0"/>
              <a:t> &lt;&lt; "Enter the values of a,       b and c"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b="1" dirty="0"/>
              <a:t>5.       </a:t>
            </a:r>
            <a:r>
              <a:rPr lang="en-US" dirty="0" err="1"/>
              <a:t>cin</a:t>
            </a:r>
            <a:r>
              <a:rPr lang="en-US" dirty="0"/>
              <a:t> &gt;&gt; a &gt;&gt; b &gt;&gt; c;</a:t>
            </a:r>
          </a:p>
          <a:p>
            <a:r>
              <a:rPr lang="en-US" b="1" dirty="0"/>
              <a:t>7.       </a:t>
            </a:r>
            <a:r>
              <a:rPr lang="en-US" dirty="0"/>
              <a:t>e = b + c;</a:t>
            </a:r>
          </a:p>
          <a:p>
            <a:r>
              <a:rPr lang="en-US" b="1" dirty="0"/>
              <a:t>9.       </a:t>
            </a:r>
            <a:r>
              <a:rPr lang="en-US" dirty="0" err="1"/>
              <a:t>cout</a:t>
            </a:r>
            <a:r>
              <a:rPr lang="en-US" dirty="0"/>
              <a:t> &lt;&lt; e;</a:t>
            </a:r>
          </a:p>
          <a:p>
            <a:r>
              <a:rPr lang="en-US" b="1" dirty="0"/>
              <a:t>10.  </a:t>
            </a: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0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EAB96-A3F7-854F-8513-F86ED5E43807}"/>
              </a:ext>
            </a:extLst>
          </p:cNvPr>
          <p:cNvSpPr txBox="1"/>
          <p:nvPr/>
        </p:nvSpPr>
        <p:spPr>
          <a:xfrm>
            <a:off x="1091381" y="648929"/>
            <a:ext cx="9261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Static And Dynamic Slicing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7E3CA-585E-37C5-2C4B-5FA8692BD0E4}"/>
              </a:ext>
            </a:extLst>
          </p:cNvPr>
          <p:cNvSpPr txBox="1"/>
          <p:nvPr/>
        </p:nvSpPr>
        <p:spPr>
          <a:xfrm>
            <a:off x="1091381" y="1553496"/>
            <a:ext cx="940947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300" b="1" dirty="0"/>
              <a:t>Static Slicing </a:t>
            </a:r>
            <a:r>
              <a:rPr lang="en-IN" sz="2300" dirty="0"/>
              <a:t>- </a:t>
            </a:r>
            <a:r>
              <a:rPr lang="en-US" sz="2000" dirty="0"/>
              <a:t>Static slicing is a program slicing technique where the slice is computed without considering any specific input or execution path.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Formally, given a program P and a slicing criterion (</a:t>
            </a:r>
            <a:r>
              <a:rPr lang="en-US" sz="2000" dirty="0" err="1"/>
              <a:t>v,n</a:t>
            </a:r>
            <a:r>
              <a:rPr lang="en-US" sz="2000" dirty="0"/>
              <a:t>)(variable v at program point n), a static slice includes all the statements in P that may affect the value of v at point n, under any possible program execution.</a:t>
            </a:r>
          </a:p>
          <a:p>
            <a:r>
              <a:rPr lang="en-IN" sz="2000" dirty="0"/>
              <a:t> </a:t>
            </a:r>
          </a:p>
          <a:p>
            <a:endParaRPr lang="en-IN" sz="2000" dirty="0"/>
          </a:p>
          <a:p>
            <a:r>
              <a:rPr lang="en-IN" sz="2300" b="1" dirty="0"/>
              <a:t>Dynamic Slicing - </a:t>
            </a:r>
            <a:r>
              <a:rPr lang="en-US" sz="2000" dirty="0"/>
              <a:t>Dynamic slicing is a program slicing technique where the slice is 	 computed with respect to a specific execution trace and input.</a:t>
            </a:r>
          </a:p>
          <a:p>
            <a:endParaRPr lang="en-US" sz="2000" dirty="0"/>
          </a:p>
          <a:p>
            <a:r>
              <a:rPr lang="en-US" sz="2000" dirty="0"/>
              <a:t>Formally, given a program P, an input I, and a slicing criterion (</a:t>
            </a:r>
            <a:r>
              <a:rPr lang="en-US" sz="2000" dirty="0" err="1"/>
              <a:t>v,n</a:t>
            </a:r>
            <a:r>
              <a:rPr lang="en-US" sz="2000" dirty="0"/>
              <a:t>) a dynamic slice includes only those statements that actually affected the value of variable v at point n during that specific execution with input I.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1773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C7720C-0833-BCCF-67B8-1515304F0A5F}"/>
              </a:ext>
            </a:extLst>
          </p:cNvPr>
          <p:cNvSpPr/>
          <p:nvPr/>
        </p:nvSpPr>
        <p:spPr>
          <a:xfrm>
            <a:off x="4975122" y="1456306"/>
            <a:ext cx="3097161" cy="3687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477E8-A9D0-42A9-2F2D-EEEA56D4F4DB}"/>
              </a:ext>
            </a:extLst>
          </p:cNvPr>
          <p:cNvSpPr txBox="1"/>
          <p:nvPr/>
        </p:nvSpPr>
        <p:spPr>
          <a:xfrm>
            <a:off x="1229033" y="1789471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1.   </a:t>
            </a:r>
            <a:r>
              <a:rPr lang="pt-BR" sz="2000" dirty="0"/>
              <a:t>int z = 10;</a:t>
            </a:r>
          </a:p>
          <a:p>
            <a:r>
              <a:rPr lang="pt-BR" sz="2000" b="1" dirty="0"/>
              <a:t>2.   </a:t>
            </a:r>
            <a:r>
              <a:rPr lang="pt-BR" sz="2000" dirty="0"/>
              <a:t>int n;</a:t>
            </a:r>
          </a:p>
          <a:p>
            <a:r>
              <a:rPr lang="pt-BR" sz="2000" b="1" dirty="0"/>
              <a:t>3.   </a:t>
            </a:r>
            <a:r>
              <a:rPr lang="pt-BR" sz="2000" dirty="0"/>
              <a:t>cin &gt;&gt; n;</a:t>
            </a:r>
          </a:p>
          <a:p>
            <a:r>
              <a:rPr lang="pt-BR" sz="2000" b="1" dirty="0"/>
              <a:t>4.   </a:t>
            </a:r>
            <a:r>
              <a:rPr lang="pt-BR" sz="2000" dirty="0"/>
              <a:t>int sum = 0;</a:t>
            </a:r>
          </a:p>
          <a:p>
            <a:r>
              <a:rPr lang="pt-BR" sz="2000" b="1" dirty="0"/>
              <a:t>5.   </a:t>
            </a:r>
            <a:r>
              <a:rPr lang="pt-BR" sz="2000" dirty="0"/>
              <a:t>if (n &gt; 10)</a:t>
            </a:r>
          </a:p>
          <a:p>
            <a:r>
              <a:rPr lang="pt-BR" sz="2000" b="1" dirty="0"/>
              <a:t>6.      </a:t>
            </a:r>
            <a:r>
              <a:rPr lang="pt-BR" sz="2000" dirty="0"/>
              <a:t>sum = sum + n;</a:t>
            </a:r>
          </a:p>
          <a:p>
            <a:r>
              <a:rPr lang="pt-BR" sz="2000" b="1" dirty="0"/>
              <a:t>7.   </a:t>
            </a:r>
            <a:r>
              <a:rPr lang="pt-BR" sz="2000" dirty="0"/>
              <a:t>else</a:t>
            </a:r>
          </a:p>
          <a:p>
            <a:r>
              <a:rPr lang="pt-BR" sz="2000" b="1" dirty="0"/>
              <a:t>8.      </a:t>
            </a:r>
            <a:r>
              <a:rPr lang="pt-BR" sz="2000" dirty="0"/>
              <a:t>sum = sum - n;</a:t>
            </a:r>
          </a:p>
          <a:p>
            <a:r>
              <a:rPr lang="pt-BR" sz="2000" b="1" dirty="0"/>
              <a:t>9.   </a:t>
            </a:r>
            <a:r>
              <a:rPr lang="pt-BR" sz="2000" dirty="0"/>
              <a:t>cout &lt;&lt; sum;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097B4-134A-3689-3004-C16804A902BD}"/>
              </a:ext>
            </a:extLst>
          </p:cNvPr>
          <p:cNvSpPr txBox="1"/>
          <p:nvPr/>
        </p:nvSpPr>
        <p:spPr>
          <a:xfrm>
            <a:off x="5152103" y="1650971"/>
            <a:ext cx="2743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Static slice for variable sum</a:t>
            </a:r>
            <a:br>
              <a:rPr lang="en-IN" b="1" dirty="0"/>
            </a:br>
            <a:r>
              <a:rPr lang="en-IN" b="1" dirty="0"/>
              <a:t>Lines : 2,3,4,5,6,7,8,9</a:t>
            </a:r>
          </a:p>
          <a:p>
            <a:endParaRPr lang="en-IN" dirty="0"/>
          </a:p>
          <a:p>
            <a:r>
              <a:rPr lang="pt-BR" dirty="0"/>
              <a:t>int n;</a:t>
            </a:r>
          </a:p>
          <a:p>
            <a:r>
              <a:rPr lang="pt-BR" dirty="0"/>
              <a:t>cin &gt;&gt; n;</a:t>
            </a:r>
          </a:p>
          <a:p>
            <a:r>
              <a:rPr lang="pt-BR" dirty="0"/>
              <a:t>int sum = 0;</a:t>
            </a:r>
          </a:p>
          <a:p>
            <a:r>
              <a:rPr lang="pt-BR" dirty="0"/>
              <a:t>if (n &gt; 10)</a:t>
            </a:r>
          </a:p>
          <a:p>
            <a:r>
              <a:rPr lang="pt-BR" dirty="0"/>
              <a:t>    sum = sum + n;</a:t>
            </a:r>
          </a:p>
          <a:p>
            <a:r>
              <a:rPr lang="pt-BR" dirty="0"/>
              <a:t>else</a:t>
            </a:r>
          </a:p>
          <a:p>
            <a:r>
              <a:rPr lang="pt-BR" dirty="0"/>
              <a:t>    sum = sum - n;</a:t>
            </a:r>
          </a:p>
          <a:p>
            <a:r>
              <a:rPr lang="pt-BR" dirty="0"/>
              <a:t>cout &lt;&lt; sum;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60EA3B-F6B5-8576-5707-125E7598A51F}"/>
              </a:ext>
            </a:extLst>
          </p:cNvPr>
          <p:cNvSpPr/>
          <p:nvPr/>
        </p:nvSpPr>
        <p:spPr>
          <a:xfrm>
            <a:off x="8431161" y="1456305"/>
            <a:ext cx="3097161" cy="3687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8DA9F-9FE3-22D9-6FB4-C79D4E4D24B8}"/>
              </a:ext>
            </a:extLst>
          </p:cNvPr>
          <p:cNvSpPr txBox="1"/>
          <p:nvPr/>
        </p:nvSpPr>
        <p:spPr>
          <a:xfrm>
            <a:off x="8622890" y="1650971"/>
            <a:ext cx="26842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Dynamic slice for variable sum when n = 15</a:t>
            </a:r>
            <a:br>
              <a:rPr lang="en-IN" b="1" dirty="0"/>
            </a:br>
            <a:r>
              <a:rPr lang="en-IN" b="1" dirty="0"/>
              <a:t>Lines : 2,3,4,5,6,7,8,9</a:t>
            </a:r>
          </a:p>
          <a:p>
            <a:endParaRPr lang="en-IN" b="1" dirty="0"/>
          </a:p>
          <a:p>
            <a:r>
              <a:rPr lang="pt-BR" dirty="0"/>
              <a:t>int n;</a:t>
            </a:r>
          </a:p>
          <a:p>
            <a:r>
              <a:rPr lang="pt-BR" dirty="0"/>
              <a:t>cin &gt;&gt; n;</a:t>
            </a:r>
          </a:p>
          <a:p>
            <a:r>
              <a:rPr lang="pt-BR" dirty="0"/>
              <a:t>int sum = 0;</a:t>
            </a:r>
          </a:p>
          <a:p>
            <a:r>
              <a:rPr lang="pt-BR" dirty="0"/>
              <a:t>if (n &gt; 10)</a:t>
            </a:r>
          </a:p>
          <a:p>
            <a:r>
              <a:rPr lang="pt-BR" dirty="0"/>
              <a:t>    sum = sum + n;</a:t>
            </a:r>
          </a:p>
          <a:p>
            <a:r>
              <a:rPr lang="pt-BR" dirty="0"/>
              <a:t>cout &lt;&lt; sum;</a:t>
            </a:r>
            <a:endParaRPr lang="en-IN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2EE96-7261-E9FE-1FB7-29ED894F088A}"/>
              </a:ext>
            </a:extLst>
          </p:cNvPr>
          <p:cNvSpPr txBox="1"/>
          <p:nvPr/>
        </p:nvSpPr>
        <p:spPr>
          <a:xfrm>
            <a:off x="953728" y="403123"/>
            <a:ext cx="52110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u="sng" dirty="0"/>
              <a:t>Static And Dynamic Slicing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1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17254-79E1-EEF1-808F-BE254DE110C4}"/>
              </a:ext>
            </a:extLst>
          </p:cNvPr>
          <p:cNvSpPr txBox="1"/>
          <p:nvPr/>
        </p:nvSpPr>
        <p:spPr>
          <a:xfrm>
            <a:off x="963561" y="530942"/>
            <a:ext cx="684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Backward and Forward Slicing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01508-0CBF-E22B-73C6-5288A29DC0C5}"/>
              </a:ext>
            </a:extLst>
          </p:cNvPr>
          <p:cNvSpPr txBox="1"/>
          <p:nvPr/>
        </p:nvSpPr>
        <p:spPr>
          <a:xfrm>
            <a:off x="1199535" y="1661652"/>
            <a:ext cx="9438968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300" b="1" dirty="0"/>
              <a:t>Backward Slicing - </a:t>
            </a:r>
            <a:r>
              <a:rPr lang="en-US" sz="2000" dirty="0"/>
              <a:t>Backward slicing refers to computing all statements in a program that may affect the value of a particular variable at a specific program point.</a:t>
            </a:r>
          </a:p>
          <a:p>
            <a:r>
              <a:rPr lang="en-US" sz="2000" dirty="0"/>
              <a:t>Formally, given a slicing criterion (v , n) (variable v at program point n), the backward slice includes all statements that could influence the value of v at point n.</a:t>
            </a:r>
          </a:p>
          <a:p>
            <a:endParaRPr lang="en-IN" sz="2300" b="1" dirty="0"/>
          </a:p>
          <a:p>
            <a:endParaRPr lang="en-IN" sz="2300" b="1" dirty="0"/>
          </a:p>
          <a:p>
            <a:pPr>
              <a:buNone/>
            </a:pPr>
            <a:r>
              <a:rPr lang="en-IN" sz="2300" b="1" dirty="0"/>
              <a:t>Forward Slicing - </a:t>
            </a:r>
            <a:r>
              <a:rPr lang="en-US" sz="2000" dirty="0"/>
              <a:t>Forward slicing refers to computing all statements in a program that are affected by the value of a particular variable at a specific program point.</a:t>
            </a:r>
          </a:p>
          <a:p>
            <a:r>
              <a:rPr lang="en-US" sz="2000" dirty="0"/>
              <a:t>Formally, given a slicing criterion (v , n), the forward slice includes all statements that might be influenced by the value of v at point n.</a:t>
            </a:r>
          </a:p>
          <a:p>
            <a:endParaRPr lang="en-IN" sz="2300" b="1" dirty="0"/>
          </a:p>
        </p:txBody>
      </p:sp>
    </p:spTree>
    <p:extLst>
      <p:ext uri="{BB962C8B-B14F-4D97-AF65-F5344CB8AC3E}">
        <p14:creationId xmlns:p14="http://schemas.microsoft.com/office/powerpoint/2010/main" val="154173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3DF3AE-5055-D40E-F2FA-00F09E78CA21}"/>
              </a:ext>
            </a:extLst>
          </p:cNvPr>
          <p:cNvSpPr txBox="1"/>
          <p:nvPr/>
        </p:nvSpPr>
        <p:spPr>
          <a:xfrm>
            <a:off x="1415846" y="983225"/>
            <a:ext cx="64204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Advantages </a:t>
            </a:r>
            <a:r>
              <a:rPr lang="en-IN" sz="3600" dirty="0"/>
              <a:t>:-</a:t>
            </a:r>
          </a:p>
          <a:p>
            <a:endParaRPr lang="en-IN" sz="2000" dirty="0"/>
          </a:p>
          <a:p>
            <a:endParaRPr lang="en-IN" sz="2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F352FC-DFA4-D536-E639-65AEB663D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1652" y="1997839"/>
            <a:ext cx="47391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test effort and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redundant test cases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fault localization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regression 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large or legacy codebases</a:t>
            </a:r>
          </a:p>
        </p:txBody>
      </p:sp>
    </p:spTree>
    <p:extLst>
      <p:ext uri="{BB962C8B-B14F-4D97-AF65-F5344CB8AC3E}">
        <p14:creationId xmlns:p14="http://schemas.microsoft.com/office/powerpoint/2010/main" val="185097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E28AC8-940B-4A06-9970-78C8B39A2F0B}"/>
              </a:ext>
            </a:extLst>
          </p:cNvPr>
          <p:cNvSpPr txBox="1"/>
          <p:nvPr/>
        </p:nvSpPr>
        <p:spPr>
          <a:xfrm>
            <a:off x="1415845" y="1278284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Limitations</a:t>
            </a:r>
            <a:r>
              <a:rPr lang="en-IN" sz="3600" dirty="0"/>
              <a:t> :-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9452BC-5B73-4666-2BC1-0B24B6564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987" y="2305615"/>
            <a:ext cx="602600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 slices may require complex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slicing depends on runtime info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ideal for interactive or event-driven programs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support may vary by language</a:t>
            </a:r>
          </a:p>
        </p:txBody>
      </p:sp>
    </p:spTree>
    <p:extLst>
      <p:ext uri="{BB962C8B-B14F-4D97-AF65-F5344CB8AC3E}">
        <p14:creationId xmlns:p14="http://schemas.microsoft.com/office/powerpoint/2010/main" val="21172502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</TotalTime>
  <Words>898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Kaushal Sindhu</dc:creator>
  <cp:lastModifiedBy>Kaushal Sindhu</cp:lastModifiedBy>
  <cp:revision>1</cp:revision>
  <dcterms:created xsi:type="dcterms:W3CDTF">2025-04-08T10:58:49Z</dcterms:created>
  <dcterms:modified xsi:type="dcterms:W3CDTF">2025-04-08T12:26:09Z</dcterms:modified>
</cp:coreProperties>
</file>